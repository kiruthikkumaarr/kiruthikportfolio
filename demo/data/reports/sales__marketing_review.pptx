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Sheet1!$A$2:$A$7</c:f>
              <c:strCache>
                <c:ptCount val="6"/>
                <c:pt idx="0">
                  <c:v>Webinar</c:v>
                </c:pt>
                <c:pt idx="1">
                  <c:v>Trade fair</c:v>
                </c:pt>
                <c:pt idx="2">
                  <c:v>Customer event</c:v>
                </c:pt>
                <c:pt idx="3">
                  <c:v>Email nurture</c:v>
                </c:pt>
                <c:pt idx="4">
                  <c:v>Google Ads</c:v>
                </c:pt>
                <c:pt idx="5">
                  <c:v>LinkedIn ads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841500.0</c:v>
                </c:pt>
                <c:pt idx="1">
                  <c:v>690000.0</c:v>
                </c:pt>
                <c:pt idx="2">
                  <c:v>628000.0</c:v>
                </c:pt>
                <c:pt idx="3">
                  <c:v>485000.0</c:v>
                </c:pt>
                <c:pt idx="4">
                  <c:v>386500.0</c:v>
                </c:pt>
                <c:pt idx="5">
                  <c:v>347000.0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0000.0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190000.0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Leads</c:v>
                </c:pt>
              </c:strCache>
            </c:strRef>
          </c:tx>
          <c:dPt>
            <c:idx val="0"/>
            <c:spPr>
              <a:solidFill>
                <a:srgbClr val="1FB5A3"/>
              </a:solidFill>
            </c:spPr>
          </c:dPt>
          <c:dPt>
            <c:idx val="1"/>
            <c:spPr>
              <a:solidFill>
                <a:srgbClr val="3D6FE0"/>
              </a:solidFill>
            </c:spPr>
          </c:dPt>
          <c:dPt>
            <c:idx val="2"/>
            <c:spPr>
              <a:solidFill>
                <a:srgbClr val="F2A93B"/>
              </a:solidFill>
            </c:spPr>
          </c:dPt>
          <c:dPt>
            <c:idx val="3"/>
            <c:spPr>
              <a:solidFill>
                <a:srgbClr val="E0566A"/>
              </a:solidFill>
            </c:spPr>
          </c:dPt>
          <c:dPt>
            <c:idx val="4"/>
            <c:spPr>
              <a:solidFill>
                <a:srgbClr val="8E6CE0"/>
              </a:solidFill>
            </c:spPr>
          </c:dPt>
          <c:dPt>
            <c:idx val="5"/>
            <c:spPr>
              <a:solidFill>
                <a:srgbClr val="5BBF7A"/>
              </a:solidFill>
            </c:spPr>
          </c:dPt>
          <c:cat>
            <c:strRef>
              <c:f>Sheet1!$A$2:$A$7</c:f>
              <c:strCache>
                <c:ptCount val="6"/>
                <c:pt idx="0">
                  <c:v>Webinar</c:v>
                </c:pt>
                <c:pt idx="1">
                  <c:v>Trade fair</c:v>
                </c:pt>
                <c:pt idx="2">
                  <c:v>LinkedIn ads</c:v>
                </c:pt>
                <c:pt idx="3">
                  <c:v>Google Ads</c:v>
                </c:pt>
                <c:pt idx="4">
                  <c:v>Customer event</c:v>
                </c:pt>
                <c:pt idx="5">
                  <c:v>Email nurture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6208.0</c:v>
                </c:pt>
                <c:pt idx="1">
                  <c:v>5081.0</c:v>
                </c:pt>
                <c:pt idx="2">
                  <c:v>4381.0</c:v>
                </c:pt>
                <c:pt idx="3">
                  <c:v>3955.0</c:v>
                </c:pt>
                <c:pt idx="4">
                  <c:v>3934.0</c:v>
                </c:pt>
                <c:pt idx="5">
                  <c:v>2939.0</c:v>
                </c:pt>
              </c:numCache>
            </c:numRef>
          </c:val>
        </c:ser>
        <c:dLbls>
          <c:numFmt formatCode="0%" sourceLinked="0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Opportunities</c:v>
                </c:pt>
              </c:strCache>
            </c:strRef>
          </c:tx>
          <c:spPr>
            <a:solidFill>
              <a:srgbClr val="1FB5A3"/>
            </a:solidFill>
          </c:spPr>
          <c:cat>
            <c:strRef>
              <c:f>Sheet1!$A$2:$A$5</c:f>
              <c:strCache>
                <c:ptCount val="4"/>
                <c:pt idx="0">
                  <c:v>CU-4</c:v>
                </c:pt>
                <c:pt idx="1">
                  <c:v>Service agreements</c:v>
                </c:pt>
                <c:pt idx="2">
                  <c:v>SmartFlow</c:v>
                </c:pt>
                <c:pt idx="3">
                  <c:v>HX range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423.0</c:v>
                </c:pt>
                <c:pt idx="1">
                  <c:v>376.0</c:v>
                </c:pt>
                <c:pt idx="2">
                  <c:v>362.0</c:v>
                </c:pt>
                <c:pt idx="3">
                  <c:v>355.0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0.0"/>
          <c:min val="0.0"/>
        </c:scaling>
        <c:delete val="0"/>
        <c:axPos val="l"/>
        <c:majorGridlines>
          <c:spPr>
            <a:ln>
              <a:solidFill>
                <a:srgbClr val="E3E7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100.0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103120"/>
            <a:ext cx="109728" cy="2011680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B5A3"/>
                </a:solidFill>
                <a:latin typeface="Calibri"/>
              </a:defRPr>
            </a:pPr>
            <a:r>
              <a:t>HALVORSEN INDUSTRIAL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Marketing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8C3DA"/>
                </a:solidFill>
                <a:latin typeface="Calibri"/>
              </a:defRPr>
            </a:pPr>
            <a:r>
              <a:t>Campaign spend, leads and opportunities by channel and 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C3DA"/>
                </a:solidFill>
                <a:latin typeface="Calibri"/>
              </a:defRPr>
            </a:pPr>
            <a:r>
              <a:t>Prepared for Karolína Matoušková, Key Account Manager  ·  14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6B0"/>
                </a:solidFill>
                <a:latin typeface="Calibri"/>
              </a:defRPr>
            </a:pPr>
            <a:r>
              <a:t>Classification: Department  ·  Generated by Halvorsen Intelligence Portal from source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Key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As of 14 October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WEIGHTED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EUR 219.0m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Sales pipeline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CUSTOMER 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320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Customer accounts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55448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SALARIED STAFF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650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Salaried staff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768F"/>
                </a:solidFill>
                <a:latin typeface="Calibri"/>
              </a:defRPr>
            </a:pPr>
            <a:r>
              <a:t>OPEN POSITIONS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A1020"/>
                </a:solidFill>
                <a:latin typeface="Calibri"/>
              </a:defRPr>
            </a:pPr>
            <a:r>
              <a:t>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349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68F"/>
                </a:solidFill>
                <a:latin typeface="Calibri"/>
              </a:defRPr>
            </a:pPr>
            <a:r>
              <a:t>Open positions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Financial KPIs, pipeline, customer, HR, procurement, inventory and safety datasets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Campaign spend by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Marketing campaigns 2025 · 48 records · Largest: Webinar at 841,500.0 (25%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Marketing_Campaigns_2025.csv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Leads by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Marketing campaigns 2025 · 48 records · Largest: Webinar at 6,208.0 (23%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Marketing_Campaigns_2025.csv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Opportunities by product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Marketing campaigns 2025 · 48 records · Largest: CU-4 at 423.0 (28% of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Marketing_Campaigns_2025.csv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1F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233"/>
                </a:solidFill>
                <a:latin typeface="Calibri"/>
              </a:defRPr>
            </a:pPr>
            <a:r>
              <a:t>Sources and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68F"/>
                </a:solidFill>
                <a:latin typeface="Calibri"/>
              </a:defRPr>
            </a:pPr>
            <a:r>
              <a:t>Every figure is computed directly from the records below - no figure is written by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84048"/>
            <a:ext cx="1691640" cy="329184"/>
          </a:xfrm>
          <a:prstGeom prst="roundRect">
            <a:avLst>
              <a:gd name="adj" fmla="val 8000"/>
            </a:avLst>
          </a:prstGeom>
          <a:solidFill>
            <a:srgbClr val="3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DEPARTMENT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B2233"/>
                </a:solidFill>
                <a:latin typeface="Calibri"/>
              </a:defRPr>
            </a:pPr>
            <a:r>
              <a:t>•  Marketing campaigns 2025  -  Marketing_Campaigns_2025.csv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6FE0"/>
                </a:solidFill>
                <a:latin typeface="Calibri"/>
              </a:defRPr>
            </a:pPr>
            <a:r>
              <a:t>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68F"/>
                </a:solidFill>
                <a:latin typeface="Calibri"/>
              </a:defRPr>
            </a:pPr>
            <a:r>
              <a:t>Source: Halvorsen Intelligence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68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