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Sheet1!$A$2:$A$5</c:f>
              <c:strCache>
                <c:ptCount val="4"/>
                <c:pt idx="0">
                  <c:v>Q1 FY2025</c:v>
                </c:pt>
                <c:pt idx="1">
                  <c:v>Q2 FY2025</c:v>
                </c:pt>
                <c:pt idx="2">
                  <c:v>Q3 FY2025</c:v>
                </c:pt>
                <c:pt idx="3">
                  <c:v>Q4 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100.2</c:v>
                </c:pt>
                <c:pt idx="1">
                  <c:v>99.9</c:v>
                </c:pt>
                <c:pt idx="2">
                  <c:v>102.7</c:v>
                </c:pt>
                <c:pt idx="3">
                  <c:v>109.8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revenue</c:v>
                </c:pt>
              </c:strCache>
            </c:strRef>
          </c:tx>
          <c:spPr>
            <a:solidFill>
              <a:srgbClr val="3D6FE0"/>
            </a:solidFill>
          </c:spPr>
          <c:cat>
            <c:strRef>
              <c:f>Sheet1!$A$2:$A$5</c:f>
              <c:strCache>
                <c:ptCount val="4"/>
                <c:pt idx="0">
                  <c:v>Q1 FY2025</c:v>
                </c:pt>
                <c:pt idx="1">
                  <c:v>Q2 FY2025</c:v>
                </c:pt>
                <c:pt idx="2">
                  <c:v>Q3 FY2025</c:v>
                </c:pt>
                <c:pt idx="3">
                  <c:v>Q4 FY2025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97.8</c:v>
                </c:pt>
                <c:pt idx="1">
                  <c:v>97.6</c:v>
                </c:pt>
                <c:pt idx="2">
                  <c:v>103.6</c:v>
                </c:pt>
                <c:pt idx="3">
                  <c:v>111.8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30.0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 %</c:v>
                </c:pt>
              </c:strCache>
            </c:strRef>
          </c:tx>
          <c:spPr>
            <a:ln w="28575">
              <a:solidFill>
                <a:srgbClr val="1FB5A3"/>
              </a:solidFill>
            </a:ln>
          </c:spPr>
          <c:marker>
            <c:symbol val="circle"/>
            <c:size val="5"/>
            <c:spPr>
              <a:solidFill>
                <a:srgbClr val="1FB5A3"/>
              </a:solidFill>
              <a:ln>
                <a:solidFill>
                  <a:srgbClr val="1FB5A3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Q1 FY2025</c:v>
                </c:pt>
                <c:pt idx="1">
                  <c:v>Q2 FY2025</c:v>
                </c:pt>
                <c:pt idx="2">
                  <c:v>Q3 FY2025</c:v>
                </c:pt>
                <c:pt idx="3">
                  <c:v>Q4 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14.0</c:v>
                </c:pt>
                <c:pt idx="1">
                  <c:v>15.5</c:v>
                </c:pt>
                <c:pt idx="2">
                  <c:v>15.1</c:v>
                </c:pt>
                <c:pt idx="3">
                  <c:v>13.7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4.0"/>
      </c:valAx>
    </c:plotArea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Central &amp; Eastern Europe</c:v>
                </c:pt>
              </c:strCache>
            </c:strRef>
          </c:tx>
          <c:spPr>
            <a:ln w="28575">
              <a:solidFill>
                <a:srgbClr val="1FB5A3"/>
              </a:solidFill>
            </a:ln>
          </c:spPr>
          <c:marker>
            <c:symbol val="circle"/>
            <c:size val="5"/>
            <c:spPr>
              <a:solidFill>
                <a:srgbClr val="1FB5A3"/>
              </a:solidFill>
              <a:ln>
                <a:solidFill>
                  <a:srgbClr val="1FB5A3"/>
                </a:solidFill>
              </a:ln>
            </c:spPr>
          </c:marker>
          <c:cat>
            <c:strRef>
              <c:f>Sheet1!$A$2:$A$34</c:f>
              <c:strCache>
                <c:ptCount val="33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  <c:pt idx="30">
                  <c:v>2026-07</c:v>
                </c:pt>
                <c:pt idx="31">
                  <c:v>2026-08</c:v>
                </c:pt>
                <c:pt idx="32">
                  <c:v>2026-09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4.13</c:v>
                </c:pt>
                <c:pt idx="1">
                  <c:v>4.68</c:v>
                </c:pt>
                <c:pt idx="2">
                  <c:v>5.37</c:v>
                </c:pt>
                <c:pt idx="3">
                  <c:v>4.96</c:v>
                </c:pt>
                <c:pt idx="4">
                  <c:v>4.95</c:v>
                </c:pt>
                <c:pt idx="5">
                  <c:v>6.03</c:v>
                </c:pt>
                <c:pt idx="6">
                  <c:v>3.91</c:v>
                </c:pt>
                <c:pt idx="7">
                  <c:v>4.58</c:v>
                </c:pt>
                <c:pt idx="8">
                  <c:v>5.67</c:v>
                </c:pt>
                <c:pt idx="9">
                  <c:v>5.91</c:v>
                </c:pt>
                <c:pt idx="10">
                  <c:v>5.86</c:v>
                </c:pt>
                <c:pt idx="11">
                  <c:v>6.13</c:v>
                </c:pt>
                <c:pt idx="12">
                  <c:v>5.03</c:v>
                </c:pt>
                <c:pt idx="13">
                  <c:v>5.38</c:v>
                </c:pt>
                <c:pt idx="14">
                  <c:v>6.4</c:v>
                </c:pt>
                <c:pt idx="15">
                  <c:v>5.75</c:v>
                </c:pt>
                <c:pt idx="16">
                  <c:v>5.34</c:v>
                </c:pt>
                <c:pt idx="17">
                  <c:v>6.29</c:v>
                </c:pt>
                <c:pt idx="18">
                  <c:v>3.93</c:v>
                </c:pt>
                <c:pt idx="19">
                  <c:v>4.72</c:v>
                </c:pt>
                <c:pt idx="20">
                  <c:v>6.02</c:v>
                </c:pt>
                <c:pt idx="21">
                  <c:v>6.12</c:v>
                </c:pt>
                <c:pt idx="22">
                  <c:v>6.63</c:v>
                </c:pt>
                <c:pt idx="23">
                  <c:v>7.11</c:v>
                </c:pt>
                <c:pt idx="24">
                  <c:v>4.82</c:v>
                </c:pt>
                <c:pt idx="25">
                  <c:v>5.08</c:v>
                </c:pt>
                <c:pt idx="26">
                  <c:v>6.81</c:v>
                </c:pt>
                <c:pt idx="27">
                  <c:v>5.93</c:v>
                </c:pt>
                <c:pt idx="28">
                  <c:v>6.37</c:v>
                </c:pt>
                <c:pt idx="29">
                  <c:v>7.08</c:v>
                </c:pt>
                <c:pt idx="30">
                  <c:v>4.68</c:v>
                </c:pt>
                <c:pt idx="31">
                  <c:v>4.86</c:v>
                </c:pt>
                <c:pt idx="32">
                  <c:v>6.72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DACH</c:v>
                </c:pt>
              </c:strCache>
            </c:strRef>
          </c:tx>
          <c:spPr>
            <a:ln w="28575">
              <a:solidFill>
                <a:srgbClr val="3D6FE0"/>
              </a:solidFill>
            </a:ln>
          </c:spPr>
          <c:marker>
            <c:symbol val="circle"/>
            <c:size val="5"/>
            <c:spPr>
              <a:solidFill>
                <a:srgbClr val="3D6FE0"/>
              </a:solidFill>
              <a:ln>
                <a:solidFill>
                  <a:srgbClr val="3D6FE0"/>
                </a:solidFill>
              </a:ln>
            </c:spPr>
          </c:marker>
          <c:cat>
            <c:strRef>
              <c:f>Sheet1!$A$2:$A$34</c:f>
              <c:strCache>
                <c:ptCount val="33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  <c:pt idx="30">
                  <c:v>2026-07</c:v>
                </c:pt>
                <c:pt idx="31">
                  <c:v>2026-08</c:v>
                </c:pt>
                <c:pt idx="32">
                  <c:v>2026-09</c:v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6.95</c:v>
                </c:pt>
                <c:pt idx="1">
                  <c:v>7.5</c:v>
                </c:pt>
                <c:pt idx="2">
                  <c:v>8.29</c:v>
                </c:pt>
                <c:pt idx="3">
                  <c:v>7.74</c:v>
                </c:pt>
                <c:pt idx="4">
                  <c:v>8.1</c:v>
                </c:pt>
                <c:pt idx="5">
                  <c:v>10.18</c:v>
                </c:pt>
                <c:pt idx="6">
                  <c:v>6.67</c:v>
                </c:pt>
                <c:pt idx="7">
                  <c:v>6.55</c:v>
                </c:pt>
                <c:pt idx="8">
                  <c:v>9.9</c:v>
                </c:pt>
                <c:pt idx="9">
                  <c:v>9.56</c:v>
                </c:pt>
                <c:pt idx="10">
                  <c:v>8.91</c:v>
                </c:pt>
                <c:pt idx="11">
                  <c:v>11.59</c:v>
                </c:pt>
                <c:pt idx="12">
                  <c:v>7.17</c:v>
                </c:pt>
                <c:pt idx="13">
                  <c:v>7.11</c:v>
                </c:pt>
                <c:pt idx="14">
                  <c:v>8.85</c:v>
                </c:pt>
                <c:pt idx="15">
                  <c:v>9.24</c:v>
                </c:pt>
                <c:pt idx="16">
                  <c:v>8.48</c:v>
                </c:pt>
                <c:pt idx="17">
                  <c:v>9.61</c:v>
                </c:pt>
                <c:pt idx="18">
                  <c:v>7.19</c:v>
                </c:pt>
                <c:pt idx="19">
                  <c:v>7.29</c:v>
                </c:pt>
                <c:pt idx="20">
                  <c:v>9.97</c:v>
                </c:pt>
                <c:pt idx="21">
                  <c:v>8.79</c:v>
                </c:pt>
                <c:pt idx="22">
                  <c:v>10.26</c:v>
                </c:pt>
                <c:pt idx="23">
                  <c:v>10.88</c:v>
                </c:pt>
                <c:pt idx="24">
                  <c:v>8.36</c:v>
                </c:pt>
                <c:pt idx="25">
                  <c:v>8.45</c:v>
                </c:pt>
                <c:pt idx="26">
                  <c:v>10.84</c:v>
                </c:pt>
                <c:pt idx="27">
                  <c:v>9.05</c:v>
                </c:pt>
                <c:pt idx="28">
                  <c:v>9.97</c:v>
                </c:pt>
                <c:pt idx="29">
                  <c:v>11.23</c:v>
                </c:pt>
                <c:pt idx="30">
                  <c:v>7.37</c:v>
                </c:pt>
                <c:pt idx="31">
                  <c:v>8.65</c:v>
                </c:pt>
                <c:pt idx="32">
                  <c:v>10.29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France &amp; Benelux</c:v>
                </c:pt>
              </c:strCache>
            </c:strRef>
          </c:tx>
          <c:spPr>
            <a:ln w="28575">
              <a:solidFill>
                <a:srgbClr val="F2A93B"/>
              </a:solidFill>
            </a:ln>
          </c:spPr>
          <c:marker>
            <c:symbol val="circle"/>
            <c:size val="5"/>
            <c:spPr>
              <a:solidFill>
                <a:srgbClr val="F2A93B"/>
              </a:solidFill>
              <a:ln>
                <a:solidFill>
                  <a:srgbClr val="F2A93B"/>
                </a:solidFill>
              </a:ln>
            </c:spPr>
          </c:marker>
          <c:cat>
            <c:strRef>
              <c:f>Sheet1!$A$2:$A$34</c:f>
              <c:strCache>
                <c:ptCount val="33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  <c:pt idx="30">
                  <c:v>2026-07</c:v>
                </c:pt>
                <c:pt idx="31">
                  <c:v>2026-08</c:v>
                </c:pt>
                <c:pt idx="32">
                  <c:v>2026-09</c:v>
                </c:pt>
              </c:strCache>
            </c: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5.3</c:v>
                </c:pt>
                <c:pt idx="1">
                  <c:v>5.47</c:v>
                </c:pt>
                <c:pt idx="2">
                  <c:v>7.79</c:v>
                </c:pt>
                <c:pt idx="3">
                  <c:v>6.34</c:v>
                </c:pt>
                <c:pt idx="4">
                  <c:v>6.71</c:v>
                </c:pt>
                <c:pt idx="5">
                  <c:v>7.46</c:v>
                </c:pt>
                <c:pt idx="6">
                  <c:v>5.43</c:v>
                </c:pt>
                <c:pt idx="7">
                  <c:v>6.21</c:v>
                </c:pt>
                <c:pt idx="8">
                  <c:v>6.59</c:v>
                </c:pt>
                <c:pt idx="9">
                  <c:v>7.52</c:v>
                </c:pt>
                <c:pt idx="10">
                  <c:v>7.45</c:v>
                </c:pt>
                <c:pt idx="11">
                  <c:v>9.13</c:v>
                </c:pt>
                <c:pt idx="12">
                  <c:v>5.91</c:v>
                </c:pt>
                <c:pt idx="13">
                  <c:v>6.39</c:v>
                </c:pt>
                <c:pt idx="14">
                  <c:v>7.57</c:v>
                </c:pt>
                <c:pt idx="15">
                  <c:v>6.58</c:v>
                </c:pt>
                <c:pt idx="16">
                  <c:v>6.55</c:v>
                </c:pt>
                <c:pt idx="17">
                  <c:v>7.79</c:v>
                </c:pt>
                <c:pt idx="18">
                  <c:v>5.7</c:v>
                </c:pt>
                <c:pt idx="19">
                  <c:v>5.76</c:v>
                </c:pt>
                <c:pt idx="20">
                  <c:v>7.03</c:v>
                </c:pt>
                <c:pt idx="21">
                  <c:v>8.05</c:v>
                </c:pt>
                <c:pt idx="22">
                  <c:v>6.98</c:v>
                </c:pt>
                <c:pt idx="23">
                  <c:v>9.42</c:v>
                </c:pt>
                <c:pt idx="24">
                  <c:v>5.88</c:v>
                </c:pt>
                <c:pt idx="25">
                  <c:v>6.45</c:v>
                </c:pt>
                <c:pt idx="26">
                  <c:v>7.35</c:v>
                </c:pt>
                <c:pt idx="27">
                  <c:v>7.52</c:v>
                </c:pt>
                <c:pt idx="28">
                  <c:v>6.81</c:v>
                </c:pt>
                <c:pt idx="29">
                  <c:v>7.9</c:v>
                </c:pt>
                <c:pt idx="30">
                  <c:v>5.81</c:v>
                </c:pt>
                <c:pt idx="31">
                  <c:v>5.81</c:v>
                </c:pt>
                <c:pt idx="32">
                  <c:v>7.92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Iberia</c:v>
                </c:pt>
              </c:strCache>
            </c:strRef>
          </c:tx>
          <c:spPr>
            <a:ln w="28575">
              <a:solidFill>
                <a:srgbClr val="E0566A"/>
              </a:solidFill>
            </a:ln>
          </c:spPr>
          <c:marker>
            <c:symbol val="circle"/>
            <c:size val="5"/>
            <c:spPr>
              <a:solidFill>
                <a:srgbClr val="E0566A"/>
              </a:solidFill>
              <a:ln>
                <a:solidFill>
                  <a:srgbClr val="E0566A"/>
                </a:solidFill>
              </a:ln>
            </c:spPr>
          </c:marker>
          <c:cat>
            <c:strRef>
              <c:f>Sheet1!$A$2:$A$34</c:f>
              <c:strCache>
                <c:ptCount val="33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  <c:pt idx="30">
                  <c:v>2026-07</c:v>
                </c:pt>
                <c:pt idx="31">
                  <c:v>2026-08</c:v>
                </c:pt>
                <c:pt idx="32">
                  <c:v>2026-09</c:v>
                </c:pt>
              </c:strCache>
            </c: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4.69</c:v>
                </c:pt>
                <c:pt idx="1">
                  <c:v>4.22</c:v>
                </c:pt>
                <c:pt idx="2">
                  <c:v>6.03</c:v>
                </c:pt>
                <c:pt idx="3">
                  <c:v>4.63</c:v>
                </c:pt>
                <c:pt idx="4">
                  <c:v>5.49</c:v>
                </c:pt>
                <c:pt idx="5">
                  <c:v>5.36</c:v>
                </c:pt>
                <c:pt idx="6">
                  <c:v>3.93</c:v>
                </c:pt>
                <c:pt idx="7">
                  <c:v>4.58</c:v>
                </c:pt>
                <c:pt idx="8">
                  <c:v>5.32</c:v>
                </c:pt>
                <c:pt idx="9">
                  <c:v>5.97</c:v>
                </c:pt>
                <c:pt idx="10">
                  <c:v>5.37</c:v>
                </c:pt>
                <c:pt idx="11">
                  <c:v>6.05</c:v>
                </c:pt>
                <c:pt idx="12">
                  <c:v>4.86</c:v>
                </c:pt>
                <c:pt idx="13">
                  <c:v>4.46</c:v>
                </c:pt>
                <c:pt idx="14">
                  <c:v>5.82</c:v>
                </c:pt>
                <c:pt idx="15">
                  <c:v>5.73</c:v>
                </c:pt>
                <c:pt idx="16">
                  <c:v>5.43</c:v>
                </c:pt>
                <c:pt idx="17">
                  <c:v>6.55</c:v>
                </c:pt>
                <c:pt idx="18">
                  <c:v>4.38</c:v>
                </c:pt>
                <c:pt idx="19">
                  <c:v>5.09</c:v>
                </c:pt>
                <c:pt idx="20">
                  <c:v>6.44</c:v>
                </c:pt>
                <c:pt idx="21">
                  <c:v>6.24</c:v>
                </c:pt>
                <c:pt idx="22">
                  <c:v>6.71</c:v>
                </c:pt>
                <c:pt idx="23">
                  <c:v>7.26</c:v>
                </c:pt>
                <c:pt idx="24">
                  <c:v>4.54</c:v>
                </c:pt>
                <c:pt idx="25">
                  <c:v>5.0</c:v>
                </c:pt>
                <c:pt idx="26">
                  <c:v>5.9</c:v>
                </c:pt>
                <c:pt idx="27">
                  <c:v>5.7</c:v>
                </c:pt>
                <c:pt idx="28">
                  <c:v>5.78</c:v>
                </c:pt>
                <c:pt idx="29">
                  <c:v>6.93</c:v>
                </c:pt>
                <c:pt idx="30">
                  <c:v>4.15</c:v>
                </c:pt>
                <c:pt idx="31">
                  <c:v>4.93</c:v>
                </c:pt>
                <c:pt idx="32">
                  <c:v>6.69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Nordics</c:v>
                </c:pt>
              </c:strCache>
            </c:strRef>
          </c:tx>
          <c:spPr>
            <a:ln w="28575">
              <a:solidFill>
                <a:srgbClr val="8E6CE0"/>
              </a:solidFill>
            </a:ln>
          </c:spPr>
          <c:marker>
            <c:symbol val="circle"/>
            <c:size val="5"/>
            <c:spPr>
              <a:solidFill>
                <a:srgbClr val="8E6CE0"/>
              </a:solidFill>
              <a:ln>
                <a:solidFill>
                  <a:srgbClr val="8E6CE0"/>
                </a:solidFill>
              </a:ln>
            </c:spPr>
          </c:marker>
          <c:cat>
            <c:strRef>
              <c:f>Sheet1!$A$2:$A$34</c:f>
              <c:strCache>
                <c:ptCount val="33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  <c:pt idx="30">
                  <c:v>2026-07</c:v>
                </c:pt>
                <c:pt idx="31">
                  <c:v>2026-08</c:v>
                </c:pt>
                <c:pt idx="32">
                  <c:v>2026-09</c:v>
                </c:pt>
              </c:strCache>
            </c:strRef>
          </c:cat>
          <c:val>
            <c:numRef>
              <c:f>Sheet1!$F$2:$F$34</c:f>
              <c:numCache>
                <c:formatCode>General</c:formatCode>
                <c:ptCount val="33"/>
                <c:pt idx="0">
                  <c:v>8.74</c:v>
                </c:pt>
                <c:pt idx="1">
                  <c:v>8.18</c:v>
                </c:pt>
                <c:pt idx="2">
                  <c:v>9.24</c:v>
                </c:pt>
                <c:pt idx="3">
                  <c:v>8.79</c:v>
                </c:pt>
                <c:pt idx="4">
                  <c:v>10.2</c:v>
                </c:pt>
                <c:pt idx="5">
                  <c:v>9.69</c:v>
                </c:pt>
                <c:pt idx="6">
                  <c:v>7.18</c:v>
                </c:pt>
                <c:pt idx="7">
                  <c:v>7.97</c:v>
                </c:pt>
                <c:pt idx="8">
                  <c:v>10.26</c:v>
                </c:pt>
                <c:pt idx="9">
                  <c:v>9.72</c:v>
                </c:pt>
                <c:pt idx="10">
                  <c:v>10.49</c:v>
                </c:pt>
                <c:pt idx="11">
                  <c:v>11.87</c:v>
                </c:pt>
                <c:pt idx="12">
                  <c:v>8.47</c:v>
                </c:pt>
                <c:pt idx="13">
                  <c:v>8.8</c:v>
                </c:pt>
                <c:pt idx="14">
                  <c:v>11.65</c:v>
                </c:pt>
                <c:pt idx="15">
                  <c:v>10.39</c:v>
                </c:pt>
                <c:pt idx="16">
                  <c:v>10.43</c:v>
                </c:pt>
                <c:pt idx="17">
                  <c:v>12.22</c:v>
                </c:pt>
                <c:pt idx="18">
                  <c:v>7.15</c:v>
                </c:pt>
                <c:pt idx="19">
                  <c:v>8.47</c:v>
                </c:pt>
                <c:pt idx="20">
                  <c:v>11.44</c:v>
                </c:pt>
                <c:pt idx="21">
                  <c:v>10.91</c:v>
                </c:pt>
                <c:pt idx="22">
                  <c:v>9.98</c:v>
                </c:pt>
                <c:pt idx="23">
                  <c:v>12.31</c:v>
                </c:pt>
                <c:pt idx="24">
                  <c:v>8.56</c:v>
                </c:pt>
                <c:pt idx="25">
                  <c:v>10.03</c:v>
                </c:pt>
                <c:pt idx="26">
                  <c:v>12.25</c:v>
                </c:pt>
                <c:pt idx="27">
                  <c:v>10.89</c:v>
                </c:pt>
                <c:pt idx="28">
                  <c:v>11.26</c:v>
                </c:pt>
                <c:pt idx="29">
                  <c:v>11.68</c:v>
                </c:pt>
                <c:pt idx="30">
                  <c:v>7.75</c:v>
                </c:pt>
                <c:pt idx="31">
                  <c:v>8.84</c:v>
                </c:pt>
                <c:pt idx="32">
                  <c:v>11.37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3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value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Sheet1!$A$2:$A$7</c:f>
              <c:strCache>
                <c:ptCount val="6"/>
                <c:pt idx="0">
                  <c:v>Closed won</c:v>
                </c:pt>
                <c:pt idx="1">
                  <c:v>Negotiation</c:v>
                </c:pt>
                <c:pt idx="2">
                  <c:v>Proposal</c:v>
                </c:pt>
                <c:pt idx="3">
                  <c:v>Needs analysis</c:v>
                </c:pt>
                <c:pt idx="4">
                  <c:v>Qualification</c:v>
                </c:pt>
                <c:pt idx="5">
                  <c:v>Closed lost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94.52</c:v>
                </c:pt>
                <c:pt idx="1">
                  <c:v>57.75</c:v>
                </c:pt>
                <c:pt idx="2">
                  <c:v>38.75</c:v>
                </c:pt>
                <c:pt idx="3">
                  <c:v>20.63</c:v>
                </c:pt>
                <c:pt idx="4">
                  <c:v>7.35</c:v>
                </c:pt>
                <c:pt idx="5">
                  <c:v>0.0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2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Exposure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dPt>
            <c:idx val="2"/>
            <c:spPr>
              <a:solidFill>
                <a:srgbClr val="F2A93B"/>
              </a:solidFill>
            </c:spPr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12.04</c:v>
                </c:pt>
                <c:pt idx="1">
                  <c:v>11.27</c:v>
                </c:pt>
                <c:pt idx="2">
                  <c:v>7.72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Sheet1!$A$2:$A$12</c:f>
              <c:strCache>
                <c:ptCount val="11"/>
                <c:pt idx="0">
                  <c:v>Executive Office</c:v>
                </c:pt>
                <c:pt idx="1">
                  <c:v>Legal &amp; Compliance</c:v>
                </c:pt>
                <c:pt idx="2">
                  <c:v>Procurement</c:v>
                </c:pt>
                <c:pt idx="3">
                  <c:v>Human Resources</c:v>
                </c:pt>
                <c:pt idx="4">
                  <c:v>Marketing</c:v>
                </c:pt>
                <c:pt idx="5">
                  <c:v>IT</c:v>
                </c:pt>
                <c:pt idx="6">
                  <c:v>Finance</c:v>
                </c:pt>
                <c:pt idx="7">
                  <c:v>Quality</c:v>
                </c:pt>
                <c:pt idx="8">
                  <c:v>Sales</c:v>
                </c:pt>
                <c:pt idx="9">
                  <c:v>Engineering</c:v>
                </c:pt>
                <c:pt idx="10">
                  <c:v>Operations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10.0</c:v>
                </c:pt>
                <c:pt idx="1">
                  <c:v>24.0</c:v>
                </c:pt>
                <c:pt idx="2">
                  <c:v>36.0</c:v>
                </c:pt>
                <c:pt idx="3">
                  <c:v>37.0</c:v>
                </c:pt>
                <c:pt idx="4">
                  <c:v>38.0</c:v>
                </c:pt>
                <c:pt idx="5">
                  <c:v>39.0</c:v>
                </c:pt>
                <c:pt idx="6">
                  <c:v>42.0</c:v>
                </c:pt>
                <c:pt idx="7">
                  <c:v>49.0</c:v>
                </c:pt>
                <c:pt idx="8">
                  <c:v>60.0</c:v>
                </c:pt>
                <c:pt idx="9">
                  <c:v>111.0</c:v>
                </c:pt>
                <c:pt idx="10">
                  <c:v>204.0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Sheet1!$A$2:$A$7</c:f>
              <c:strCache>
                <c:ptCount val="6"/>
                <c:pt idx="0">
                  <c:v>Closed lost</c:v>
                </c:pt>
                <c:pt idx="1">
                  <c:v>Closed won</c:v>
                </c:pt>
                <c:pt idx="2">
                  <c:v>Proposal</c:v>
                </c:pt>
                <c:pt idx="3">
                  <c:v>Needs analysis</c:v>
                </c:pt>
                <c:pt idx="4">
                  <c:v>Negotiation</c:v>
                </c:pt>
                <c:pt idx="5">
                  <c:v>Qualification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96.63</c:v>
                </c:pt>
                <c:pt idx="1">
                  <c:v>94.52</c:v>
                </c:pt>
                <c:pt idx="2">
                  <c:v>86.11</c:v>
                </c:pt>
                <c:pt idx="3">
                  <c:v>82.52</c:v>
                </c:pt>
                <c:pt idx="4">
                  <c:v>82.5</c:v>
                </c:pt>
                <c:pt idx="5">
                  <c:v>73.49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2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value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Sheet1!$A$2:$A$11</c:f>
              <c:strCache>
                <c:ptCount val="10"/>
                <c:pt idx="0">
                  <c:v>Paweł Maciejewicz</c:v>
                </c:pt>
                <c:pt idx="1">
                  <c:v>Freja Gregersen</c:v>
                </c:pt>
                <c:pt idx="2">
                  <c:v>Alexa Schlager</c:v>
                </c:pt>
                <c:pt idx="3">
                  <c:v>Miroslava Sedláčková</c:v>
                </c:pt>
                <c:pt idx="4">
                  <c:v>Marco Anjos</c:v>
                </c:pt>
                <c:pt idx="5">
                  <c:v>Gilles Perrin</c:v>
                </c:pt>
                <c:pt idx="6">
                  <c:v>Karolína Matoušková</c:v>
                </c:pt>
                <c:pt idx="7">
                  <c:v>Jiřina Tůma</c:v>
                </c:pt>
                <c:pt idx="8">
                  <c:v>Fernando Freitas</c:v>
                </c:pt>
                <c:pt idx="9">
                  <c:v>Benoît Roux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12.42</c:v>
                </c:pt>
                <c:pt idx="1">
                  <c:v>13.69</c:v>
                </c:pt>
                <c:pt idx="2">
                  <c:v>13.99</c:v>
                </c:pt>
                <c:pt idx="3">
                  <c:v>14.71</c:v>
                </c:pt>
                <c:pt idx="4">
                  <c:v>14.9</c:v>
                </c:pt>
                <c:pt idx="5">
                  <c:v>15.5</c:v>
                </c:pt>
                <c:pt idx="6">
                  <c:v>15.94</c:v>
                </c:pt>
                <c:pt idx="7">
                  <c:v>16.64</c:v>
                </c:pt>
                <c:pt idx="8">
                  <c:v>17.31</c:v>
                </c:pt>
                <c:pt idx="9">
                  <c:v>17.59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Sheet1!$A$2:$A$11</c:f>
              <c:strCache>
                <c:ptCount val="10"/>
                <c:pt idx="0">
                  <c:v>HX-200</c:v>
                </c:pt>
                <c:pt idx="1">
                  <c:v>HX-160</c:v>
                </c:pt>
                <c:pt idx="2">
                  <c:v>Spare Parts Kit</c:v>
                </c:pt>
                <c:pt idx="3">
                  <c:v>HX-520</c:v>
                </c:pt>
                <c:pt idx="4">
                  <c:v>Service Agreement Gold</c:v>
                </c:pt>
                <c:pt idx="5">
                  <c:v>SmartFlow Monitoring (SaaS)</c:v>
                </c:pt>
                <c:pt idx="6">
                  <c:v>HX-280</c:v>
                </c:pt>
                <c:pt idx="7">
                  <c:v>HX-140</c:v>
                </c:pt>
                <c:pt idx="8">
                  <c:v>CU-4 Controller</c:v>
                </c:pt>
                <c:pt idx="9">
                  <c:v>HX-110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26.55</c:v>
                </c:pt>
                <c:pt idx="1">
                  <c:v>27.2</c:v>
                </c:pt>
                <c:pt idx="2">
                  <c:v>27.6</c:v>
                </c:pt>
                <c:pt idx="3">
                  <c:v>28.84</c:v>
                </c:pt>
                <c:pt idx="4">
                  <c:v>33.14</c:v>
                </c:pt>
                <c:pt idx="5">
                  <c:v>34.01</c:v>
                </c:pt>
                <c:pt idx="6">
                  <c:v>34.42</c:v>
                </c:pt>
                <c:pt idx="7">
                  <c:v>35.58</c:v>
                </c:pt>
                <c:pt idx="8">
                  <c:v>40.38</c:v>
                </c:pt>
                <c:pt idx="9">
                  <c:v>40.39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dPt>
            <c:idx val="2"/>
            <c:spPr>
              <a:solidFill>
                <a:srgbClr val="F2A93B"/>
              </a:solidFill>
            </c:spPr>
          </c:dPt>
          <c:dPt>
            <c:idx val="3"/>
            <c:spPr>
              <a:solidFill>
                <a:srgbClr val="E0566A"/>
              </a:solidFill>
            </c:spPr>
          </c:dPt>
          <c:dPt>
            <c:idx val="4"/>
            <c:spPr>
              <a:solidFill>
                <a:srgbClr val="8E6CE0"/>
              </a:solidFill>
            </c:spPr>
          </c:dPt>
          <c:dPt>
            <c:idx val="5"/>
            <c:spPr>
              <a:solidFill>
                <a:srgbClr val="5BBF7A"/>
              </a:solidFill>
            </c:spPr>
          </c:dPt>
          <c:dPt>
            <c:idx val="6"/>
            <c:spPr>
              <a:solidFill>
                <a:srgbClr val="4FB3D9"/>
              </a:solidFill>
            </c:spPr>
          </c:dPt>
          <c:cat>
            <c:strRef>
              <c:f>Sheet1!$A$2:$A$8</c:f>
              <c:strCache>
                <c:ptCount val="7"/>
                <c:pt idx="0">
                  <c:v>Pulp &amp; Paper</c:v>
                </c:pt>
                <c:pt idx="1">
                  <c:v>HVAC Contractors</c:v>
                </c:pt>
                <c:pt idx="2">
                  <c:v>Chemicals</c:v>
                </c:pt>
                <c:pt idx="3">
                  <c:v>Mining</c:v>
                </c:pt>
                <c:pt idx="4">
                  <c:v>District Energy</c:v>
                </c:pt>
                <c:pt idx="5">
                  <c:v>Water Utilities</c:v>
                </c:pt>
                <c:pt idx="6">
                  <c:v>Food &amp; Beverage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67.72</c:v>
                </c:pt>
                <c:pt idx="1">
                  <c:v>66.63</c:v>
                </c:pt>
                <c:pt idx="2">
                  <c:v>54.53</c:v>
                </c:pt>
                <c:pt idx="3">
                  <c:v>53.02</c:v>
                </c:pt>
                <c:pt idx="4">
                  <c:v>51.37</c:v>
                </c:pt>
                <c:pt idx="5">
                  <c:v>50.19</c:v>
                </c:pt>
                <c:pt idx="6">
                  <c:v>48.7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Sheet1!$A$2:$A$11</c:f>
              <c:strCache>
                <c:ptCount val="10"/>
                <c:pt idx="0">
                  <c:v>Brunel Installations SA</c:v>
                </c:pt>
                <c:pt idx="1">
                  <c:v>Ostrava Energy s.r.o.</c:v>
                </c:pt>
                <c:pt idx="2">
                  <c:v>Steffensen Mining A/S</c:v>
                </c:pt>
                <c:pt idx="3">
                  <c:v>Reinprecht Installations GmbH</c:v>
                </c:pt>
                <c:pt idx="4">
                  <c:v>Poznań Pulp &amp; Board S.A.</c:v>
                </c:pt>
                <c:pt idx="5">
                  <c:v>Larsson Water Services AB</c:v>
                </c:pt>
                <c:pt idx="6">
                  <c:v>Rantanen Waterworks Oyj</c:v>
                </c:pt>
                <c:pt idx="7">
                  <c:v>Aarhus Paper Mills ApS</c:v>
                </c:pt>
                <c:pt idx="8">
                  <c:v>Skov Mining A/S</c:v>
                </c:pt>
                <c:pt idx="9">
                  <c:v>Seifert Climate Systems AG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2.33</c:v>
                </c:pt>
                <c:pt idx="1">
                  <c:v>2.33</c:v>
                </c:pt>
                <c:pt idx="2">
                  <c:v>2.34</c:v>
                </c:pt>
                <c:pt idx="3">
                  <c:v>2.35</c:v>
                </c:pt>
                <c:pt idx="4">
                  <c:v>2.35</c:v>
                </c:pt>
                <c:pt idx="5">
                  <c:v>2.35</c:v>
                </c:pt>
                <c:pt idx="6">
                  <c:v>2.37</c:v>
                </c:pt>
                <c:pt idx="7">
                  <c:v>2.38</c:v>
                </c:pt>
                <c:pt idx="8">
                  <c:v>2.39</c:v>
                </c:pt>
                <c:pt idx="9">
                  <c:v>2.39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0.6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Sheet1!$A$2:$A$6</c:f>
              <c:strCache>
                <c:ptCount val="5"/>
                <c:pt idx="0">
                  <c:v>Nordics</c:v>
                </c:pt>
                <c:pt idx="1">
                  <c:v>DACH</c:v>
                </c:pt>
                <c:pt idx="2">
                  <c:v>France &amp; Benelux</c:v>
                </c:pt>
                <c:pt idx="3">
                  <c:v>Central &amp; Eastern Europe</c:v>
                </c:pt>
                <c:pt idx="4">
                  <c:v>Iberia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112.34</c:v>
                </c:pt>
                <c:pt idx="1">
                  <c:v>101.94</c:v>
                </c:pt>
                <c:pt idx="2">
                  <c:v>81.38</c:v>
                </c:pt>
                <c:pt idx="3">
                  <c:v>62.18</c:v>
                </c:pt>
                <c:pt idx="4">
                  <c:v>61.64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D6FE0"/>
            </a:solidFill>
          </c:spPr>
          <c:cat>
            <c:strRef>
              <c:f>Sheet1!$A$2:$A$6</c:f>
              <c:strCache>
                <c:ptCount val="5"/>
                <c:pt idx="0">
                  <c:v>Nordics</c:v>
                </c:pt>
                <c:pt idx="1">
                  <c:v>DACH</c:v>
                </c:pt>
                <c:pt idx="2">
                  <c:v>France &amp; Benelux</c:v>
                </c:pt>
                <c:pt idx="3">
                  <c:v>Central &amp; Eastern Europe</c:v>
                </c:pt>
                <c:pt idx="4">
                  <c:v>Iberia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122.23</c:v>
                </c:pt>
                <c:pt idx="1">
                  <c:v>104.84</c:v>
                </c:pt>
                <c:pt idx="2">
                  <c:v>83.75</c:v>
                </c:pt>
                <c:pt idx="3">
                  <c:v>68.72</c:v>
                </c:pt>
                <c:pt idx="4">
                  <c:v>68.97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Sheet1!$A$2:$A$6</c:f>
              <c:strCache>
                <c:ptCount val="5"/>
                <c:pt idx="0">
                  <c:v>Nordics</c:v>
                </c:pt>
                <c:pt idx="1">
                  <c:v>DACH</c:v>
                </c:pt>
                <c:pt idx="2">
                  <c:v>France &amp; Benelux</c:v>
                </c:pt>
                <c:pt idx="3">
                  <c:v>Central &amp; Eastern Europe</c:v>
                </c:pt>
                <c:pt idx="4">
                  <c:v>Iberia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92.63</c:v>
                </c:pt>
                <c:pt idx="1">
                  <c:v>84.22</c:v>
                </c:pt>
                <c:pt idx="2">
                  <c:v>61.44</c:v>
                </c:pt>
                <c:pt idx="3">
                  <c:v>52.34</c:v>
                </c:pt>
                <c:pt idx="4">
                  <c:v>49.61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30.0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Sheet1!$A$2:$A$12</c:f>
              <c:strCache>
                <c:ptCount val="11"/>
                <c:pt idx="0">
                  <c:v>Executive Office</c:v>
                </c:pt>
                <c:pt idx="1">
                  <c:v>Legal &amp; Compliance</c:v>
                </c:pt>
                <c:pt idx="2">
                  <c:v>Procurement</c:v>
                </c:pt>
                <c:pt idx="3">
                  <c:v>Human Resources</c:v>
                </c:pt>
                <c:pt idx="4">
                  <c:v>Marketing</c:v>
                </c:pt>
                <c:pt idx="5">
                  <c:v>IT</c:v>
                </c:pt>
                <c:pt idx="6">
                  <c:v>Finance</c:v>
                </c:pt>
                <c:pt idx="7">
                  <c:v>Quality</c:v>
                </c:pt>
                <c:pt idx="8">
                  <c:v>Sales</c:v>
                </c:pt>
                <c:pt idx="9">
                  <c:v>Engineering</c:v>
                </c:pt>
                <c:pt idx="10">
                  <c:v>Operations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10.0</c:v>
                </c:pt>
                <c:pt idx="1">
                  <c:v>24.0</c:v>
                </c:pt>
                <c:pt idx="2">
                  <c:v>36.0</c:v>
                </c:pt>
                <c:pt idx="3">
                  <c:v>37.0</c:v>
                </c:pt>
                <c:pt idx="4">
                  <c:v>38.0</c:v>
                </c:pt>
                <c:pt idx="5">
                  <c:v>39.0</c:v>
                </c:pt>
                <c:pt idx="6">
                  <c:v>42.0</c:v>
                </c:pt>
                <c:pt idx="7">
                  <c:v>49.0</c:v>
                </c:pt>
                <c:pt idx="8">
                  <c:v>60.0</c:v>
                </c:pt>
                <c:pt idx="9">
                  <c:v>111.0</c:v>
                </c:pt>
                <c:pt idx="10">
                  <c:v>204.0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dPt>
            <c:idx val="2"/>
            <c:spPr>
              <a:solidFill>
                <a:srgbClr val="F2A93B"/>
              </a:solidFill>
            </c:spPr>
          </c:dPt>
          <c:dPt>
            <c:idx val="3"/>
            <c:spPr>
              <a:solidFill>
                <a:srgbClr val="E0566A"/>
              </a:solidFill>
            </c:spPr>
          </c:dPt>
          <c:dPt>
            <c:idx val="4"/>
            <c:spPr>
              <a:solidFill>
                <a:srgbClr val="8E6CE0"/>
              </a:solidFill>
            </c:spPr>
          </c:dPt>
          <c:dPt>
            <c:idx val="5"/>
            <c:spPr>
              <a:solidFill>
                <a:srgbClr val="5BBF7A"/>
              </a:solidFill>
            </c:spPr>
          </c:dPt>
          <c:dPt>
            <c:idx val="6"/>
            <c:spPr>
              <a:solidFill>
                <a:srgbClr val="4FB3D9"/>
              </a:solidFill>
            </c:spPr>
          </c:dPt>
          <c:dPt>
            <c:idx val="7"/>
            <c:spPr>
              <a:solidFill>
                <a:srgbClr val="D98E4F"/>
              </a:solidFill>
            </c:spPr>
          </c:dPt>
          <c:cat>
            <c:strRef>
              <c:f>Sheet1!$A$2:$A$9</c:f>
              <c:strCache>
                <c:ptCount val="8"/>
                <c:pt idx="0">
                  <c:v>Tampere Works</c:v>
                </c:pt>
                <c:pt idx="1">
                  <c:v>Porto Foundry</c:v>
                </c:pt>
                <c:pt idx="2">
                  <c:v>Gdansk Assembly</c:v>
                </c:pt>
                <c:pt idx="3">
                  <c:v>Lyon Systems</c:v>
                </c:pt>
                <c:pt idx="4">
                  <c:v>Brno Machining</c:v>
                </c:pt>
                <c:pt idx="5">
                  <c:v>Aarhus Service Centre</c:v>
                </c:pt>
                <c:pt idx="6">
                  <c:v>Graz Electronics</c:v>
                </c:pt>
                <c:pt idx="7">
                  <c:v>Bilbao Plant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220.0</c:v>
                </c:pt>
                <c:pt idx="1">
                  <c:v>79.0</c:v>
                </c:pt>
                <c:pt idx="2">
                  <c:v>75.0</c:v>
                </c:pt>
                <c:pt idx="3">
                  <c:v>59.0</c:v>
                </c:pt>
                <c:pt idx="4">
                  <c:v>57.0</c:v>
                </c:pt>
                <c:pt idx="5">
                  <c:v>55.0</c:v>
                </c:pt>
                <c:pt idx="6">
                  <c:v>53.0</c:v>
                </c:pt>
                <c:pt idx="7">
                  <c:v>52.0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 w="28575">
              <a:solidFill>
                <a:srgbClr val="1FB5A3"/>
              </a:solidFill>
            </a:ln>
          </c:spPr>
          <c:marker>
            <c:symbol val="circle"/>
            <c:size val="5"/>
            <c:spPr>
              <a:solidFill>
                <a:srgbClr val="1FB5A3"/>
              </a:solidFill>
              <a:ln>
                <a:solidFill>
                  <a:srgbClr val="1FB5A3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2004</c:v>
                </c:pt>
                <c:pt idx="1">
                  <c:v>2005</c:v>
                </c:pt>
                <c:pt idx="2">
                  <c:v>2006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  <c:pt idx="14">
                  <c:v>2018</c:v>
                </c:pt>
                <c:pt idx="15">
                  <c:v>2019</c:v>
                </c:pt>
                <c:pt idx="16">
                  <c:v>2020</c:v>
                </c:pt>
                <c:pt idx="17">
                  <c:v>2021</c:v>
                </c:pt>
                <c:pt idx="18">
                  <c:v>2022</c:v>
                </c:pt>
                <c:pt idx="19">
                  <c:v>2023</c:v>
                </c:pt>
                <c:pt idx="20">
                  <c:v>2024</c:v>
                </c:pt>
                <c:pt idx="21">
                  <c:v>2025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32.0</c:v>
                </c:pt>
                <c:pt idx="1">
                  <c:v>22.0</c:v>
                </c:pt>
                <c:pt idx="2">
                  <c:v>44.0</c:v>
                </c:pt>
                <c:pt idx="3">
                  <c:v>32.0</c:v>
                </c:pt>
                <c:pt idx="4">
                  <c:v>32.0</c:v>
                </c:pt>
                <c:pt idx="5">
                  <c:v>26.0</c:v>
                </c:pt>
                <c:pt idx="6">
                  <c:v>29.0</c:v>
                </c:pt>
                <c:pt idx="7">
                  <c:v>28.0</c:v>
                </c:pt>
                <c:pt idx="8">
                  <c:v>28.0</c:v>
                </c:pt>
                <c:pt idx="9">
                  <c:v>31.0</c:v>
                </c:pt>
                <c:pt idx="10">
                  <c:v>28.0</c:v>
                </c:pt>
                <c:pt idx="11">
                  <c:v>30.0</c:v>
                </c:pt>
                <c:pt idx="12">
                  <c:v>32.0</c:v>
                </c:pt>
                <c:pt idx="13">
                  <c:v>34.0</c:v>
                </c:pt>
                <c:pt idx="14">
                  <c:v>32.0</c:v>
                </c:pt>
                <c:pt idx="15">
                  <c:v>27.0</c:v>
                </c:pt>
                <c:pt idx="16">
                  <c:v>25.0</c:v>
                </c:pt>
                <c:pt idx="17">
                  <c:v>26.0</c:v>
                </c:pt>
                <c:pt idx="18">
                  <c:v>19.0</c:v>
                </c:pt>
                <c:pt idx="19">
                  <c:v>31.0</c:v>
                </c:pt>
                <c:pt idx="20">
                  <c:v>34.0</c:v>
                </c:pt>
                <c:pt idx="21">
                  <c:v>28.0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Sheet1!$A$2:$A$11</c:f>
              <c:strCache>
                <c:ptCount val="10"/>
                <c:pt idx="0">
                  <c:v>Procurement</c:v>
                </c:pt>
                <c:pt idx="1">
                  <c:v>Quality</c:v>
                </c:pt>
                <c:pt idx="2">
                  <c:v>Finance</c:v>
                </c:pt>
                <c:pt idx="3">
                  <c:v>Marketing</c:v>
                </c:pt>
                <c:pt idx="4">
                  <c:v>Operations</c:v>
                </c:pt>
                <c:pt idx="5">
                  <c:v>Human Resources</c:v>
                </c:pt>
                <c:pt idx="6">
                  <c:v>Legal &amp; Compliance</c:v>
                </c:pt>
                <c:pt idx="7">
                  <c:v>IT</c:v>
                </c:pt>
                <c:pt idx="8">
                  <c:v>Sales</c:v>
                </c:pt>
                <c:pt idx="9">
                  <c:v>Engineering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7.0</c:v>
                </c:pt>
                <c:pt idx="1">
                  <c:v>7.0</c:v>
                </c:pt>
                <c:pt idx="2">
                  <c:v>6.0</c:v>
                </c:pt>
                <c:pt idx="3">
                  <c:v>5.0</c:v>
                </c:pt>
                <c:pt idx="4">
                  <c:v>5.0</c:v>
                </c:pt>
                <c:pt idx="5">
                  <c:v>4.0</c:v>
                </c:pt>
                <c:pt idx="6">
                  <c:v>4.0</c:v>
                </c:pt>
                <c:pt idx="7">
                  <c:v>3.0</c:v>
                </c:pt>
                <c:pt idx="8">
                  <c:v>3.0</c:v>
                </c:pt>
                <c:pt idx="9">
                  <c:v>2.0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.6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Sheet1!$A$2:$A$6</c:f>
              <c:strCache>
                <c:ptCount val="5"/>
                <c:pt idx="0">
                  <c:v>1 - Below</c:v>
                </c:pt>
                <c:pt idx="1">
                  <c:v>2 - Partly meets</c:v>
                </c:pt>
                <c:pt idx="2">
                  <c:v>3 - Meets</c:v>
                </c:pt>
                <c:pt idx="3">
                  <c:v>4 - Exceeds</c:v>
                </c:pt>
                <c:pt idx="4">
                  <c:v>5 - Outstanding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15.0</c:v>
                </c:pt>
                <c:pt idx="2">
                  <c:v>136.0</c:v>
                </c:pt>
                <c:pt idx="3">
                  <c:v>68.0</c:v>
                </c:pt>
                <c:pt idx="4">
                  <c:v>20.0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4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Stock value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Sheet1!$A$2:$A$9</c:f>
              <c:strCache>
                <c:ptCount val="8"/>
                <c:pt idx="0">
                  <c:v>Porto Foundry</c:v>
                </c:pt>
                <c:pt idx="1">
                  <c:v>Bilbao Plant</c:v>
                </c:pt>
                <c:pt idx="2">
                  <c:v>Lyon Systems</c:v>
                </c:pt>
                <c:pt idx="3">
                  <c:v>Aarhus Service Centre</c:v>
                </c:pt>
                <c:pt idx="4">
                  <c:v>Gdansk Assembly</c:v>
                </c:pt>
                <c:pt idx="5">
                  <c:v>Brno Machining</c:v>
                </c:pt>
                <c:pt idx="6">
                  <c:v>Graz Electronics</c:v>
                </c:pt>
                <c:pt idx="7">
                  <c:v>Tampere Works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63.98</c:v>
                </c:pt>
                <c:pt idx="1">
                  <c:v>63.54</c:v>
                </c:pt>
                <c:pt idx="2">
                  <c:v>53.15</c:v>
                </c:pt>
                <c:pt idx="3">
                  <c:v>52.87</c:v>
                </c:pt>
                <c:pt idx="4">
                  <c:v>51.23</c:v>
                </c:pt>
                <c:pt idx="5">
                  <c:v>47.64</c:v>
                </c:pt>
                <c:pt idx="6">
                  <c:v>42.17</c:v>
                </c:pt>
                <c:pt idx="7">
                  <c:v>38.3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5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cat>
            <c:strRef>
              <c:f>Sheet1!$A$2:$A$3</c:f>
              <c:strCache>
                <c:ptCount val="2"/>
                <c:pt idx="0">
                  <c:v>OK</c:v>
                </c:pt>
                <c:pt idx="1">
                  <c:v>Below reorder point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356.0</c:v>
                </c:pt>
                <c:pt idx="1">
                  <c:v>44.0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 aid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Sheet1!$A$2:$A$9</c:f>
              <c:strCache>
                <c:ptCount val="8"/>
                <c:pt idx="0">
                  <c:v>Tampere Works</c:v>
                </c:pt>
                <c:pt idx="1">
                  <c:v>Bilbao Plant</c:v>
                </c:pt>
                <c:pt idx="2">
                  <c:v>Aarhus Service Centre</c:v>
                </c:pt>
                <c:pt idx="3">
                  <c:v>Lyon Systems</c:v>
                </c:pt>
                <c:pt idx="4">
                  <c:v>Gdansk Assembly</c:v>
                </c:pt>
                <c:pt idx="5">
                  <c:v>Brno Machining</c:v>
                </c:pt>
                <c:pt idx="6">
                  <c:v>Graz Electronics</c:v>
                </c:pt>
                <c:pt idx="7">
                  <c:v>Porto Foundry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5.0</c:v>
                </c:pt>
                <c:pt idx="4">
                  <c:v>4.0</c:v>
                </c:pt>
                <c:pt idx="5">
                  <c:v>4.0</c:v>
                </c:pt>
                <c:pt idx="6">
                  <c:v>2.0</c:v>
                </c:pt>
                <c:pt idx="7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Lost time</c:v>
                </c:pt>
              </c:strCache>
            </c:strRef>
          </c:tx>
          <c:spPr>
            <a:solidFill>
              <a:srgbClr val="3D6FE0"/>
            </a:solidFill>
          </c:spPr>
          <c:cat>
            <c:strRef>
              <c:f>Sheet1!$A$2:$A$9</c:f>
              <c:strCache>
                <c:ptCount val="8"/>
                <c:pt idx="0">
                  <c:v>Tampere Works</c:v>
                </c:pt>
                <c:pt idx="1">
                  <c:v>Bilbao Plant</c:v>
                </c:pt>
                <c:pt idx="2">
                  <c:v>Aarhus Service Centre</c:v>
                </c:pt>
                <c:pt idx="3">
                  <c:v>Lyon Systems</c:v>
                </c:pt>
                <c:pt idx="4">
                  <c:v>Gdansk Assembly</c:v>
                </c:pt>
                <c:pt idx="5">
                  <c:v>Brno Machining</c:v>
                </c:pt>
                <c:pt idx="6">
                  <c:v>Graz Electronics</c:v>
                </c:pt>
                <c:pt idx="7">
                  <c:v>Porto Foundry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3.0</c:v>
                </c:pt>
                <c:pt idx="1">
                  <c:v>2.0</c:v>
                </c:pt>
                <c:pt idx="2">
                  <c:v>0.0</c:v>
                </c:pt>
                <c:pt idx="3">
                  <c:v>3.0</c:v>
                </c:pt>
                <c:pt idx="4">
                  <c:v>1.0</c:v>
                </c:pt>
                <c:pt idx="5">
                  <c:v>0.0</c:v>
                </c:pt>
                <c:pt idx="6">
                  <c:v>3.0</c:v>
                </c:pt>
                <c:pt idx="7">
                  <c:v>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Medical treatment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Sheet1!$A$2:$A$9</c:f>
              <c:strCache>
                <c:ptCount val="8"/>
                <c:pt idx="0">
                  <c:v>Tampere Works</c:v>
                </c:pt>
                <c:pt idx="1">
                  <c:v>Bilbao Plant</c:v>
                </c:pt>
                <c:pt idx="2">
                  <c:v>Aarhus Service Centre</c:v>
                </c:pt>
                <c:pt idx="3">
                  <c:v>Lyon Systems</c:v>
                </c:pt>
                <c:pt idx="4">
                  <c:v>Gdansk Assembly</c:v>
                </c:pt>
                <c:pt idx="5">
                  <c:v>Brno Machining</c:v>
                </c:pt>
                <c:pt idx="6">
                  <c:v>Graz Electronics</c:v>
                </c:pt>
                <c:pt idx="7">
                  <c:v>Porto Foundry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5.0</c:v>
                </c:pt>
                <c:pt idx="6">
                  <c:v>3.0</c:v>
                </c:pt>
                <c:pt idx="7">
                  <c:v>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Near miss</c:v>
                </c:pt>
              </c:strCache>
            </c:strRef>
          </c:tx>
          <c:spPr>
            <a:solidFill>
              <a:srgbClr val="E0566A"/>
            </a:solidFill>
          </c:spPr>
          <c:cat>
            <c:strRef>
              <c:f>Sheet1!$A$2:$A$9</c:f>
              <c:strCache>
                <c:ptCount val="8"/>
                <c:pt idx="0">
                  <c:v>Tampere Works</c:v>
                </c:pt>
                <c:pt idx="1">
                  <c:v>Bilbao Plant</c:v>
                </c:pt>
                <c:pt idx="2">
                  <c:v>Aarhus Service Centre</c:v>
                </c:pt>
                <c:pt idx="3">
                  <c:v>Lyon Systems</c:v>
                </c:pt>
                <c:pt idx="4">
                  <c:v>Gdansk Assembly</c:v>
                </c:pt>
                <c:pt idx="5">
                  <c:v>Brno Machining</c:v>
                </c:pt>
                <c:pt idx="6">
                  <c:v>Graz Electronics</c:v>
                </c:pt>
                <c:pt idx="7">
                  <c:v>Porto Foundry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8.0</c:v>
                </c:pt>
                <c:pt idx="1">
                  <c:v>5.0</c:v>
                </c:pt>
                <c:pt idx="2">
                  <c:v>10.0</c:v>
                </c:pt>
                <c:pt idx="3">
                  <c:v>7.0</c:v>
                </c:pt>
                <c:pt idx="4">
                  <c:v>6.0</c:v>
                </c:pt>
                <c:pt idx="5">
                  <c:v>4.0</c:v>
                </c:pt>
                <c:pt idx="6">
                  <c:v>5.0</c:v>
                </c:pt>
                <c:pt idx="7">
                  <c:v>5.0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3.0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Sheet1!$A$2:$A$8</c:f>
              <c:strCache>
                <c:ptCount val="7"/>
                <c:pt idx="0">
                  <c:v>Graz Electronics</c:v>
                </c:pt>
                <c:pt idx="1">
                  <c:v>Bilbao Plant</c:v>
                </c:pt>
                <c:pt idx="2">
                  <c:v>Tampere Works</c:v>
                </c:pt>
                <c:pt idx="3">
                  <c:v>Gdansk Assembly</c:v>
                </c:pt>
                <c:pt idx="4">
                  <c:v>Porto Foundry</c:v>
                </c:pt>
                <c:pt idx="5">
                  <c:v>Brno Machining</c:v>
                </c:pt>
                <c:pt idx="6">
                  <c:v>Lyon Systems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3387.0</c:v>
                </c:pt>
                <c:pt idx="1">
                  <c:v>3762.0</c:v>
                </c:pt>
                <c:pt idx="2">
                  <c:v>3780.0</c:v>
                </c:pt>
                <c:pt idx="3">
                  <c:v>3844.0</c:v>
                </c:pt>
                <c:pt idx="4">
                  <c:v>4205.0</c:v>
                </c:pt>
                <c:pt idx="5">
                  <c:v>4421.0</c:v>
                </c:pt>
                <c:pt idx="6">
                  <c:v>5020.0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0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20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09728" cy="2011680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B5A3"/>
                </a:solidFill>
                <a:latin typeface="Calibri"/>
              </a:defRPr>
            </a:pPr>
            <a:r>
              <a:t>HALVORSEN INDUSTRIAL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3DA"/>
                </a:solidFill>
                <a:latin typeface="Calibri"/>
              </a:defRPr>
            </a:pPr>
            <a:r>
              <a:t>Board-level view: financial performance, bookings, pipeline, people, operations and legal exposure.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3DA"/>
                </a:solidFill>
                <a:latin typeface="Calibri"/>
              </a:defRPr>
            </a:pPr>
            <a:r>
              <a:t>Prepared for Maria Peltoniemi, Chief Executive Officer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B0"/>
                </a:solidFill>
                <a:latin typeface="Calibri"/>
              </a:defRPr>
            </a:pPr>
            <a:r>
              <a:t>Classification: Executive  ·  Generated by Halvorsen Intelligence Portal from source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Key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As of 14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D23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412.6m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AVG 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14.6%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FY2025 ORDER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448.5m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Quarterly financial KPIs FY2025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WEIGHTED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219.0m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 KPIs, pipeline, customer, HR, procurement, inventory and safety datasets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Revenue vs budget by quarter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Quarterly financial KPIs FY2025 · 4 records · Largest: Q4 FY2025 at 109.8 (27%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Financial_KPIs_FY2025.csv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Adjusted EBITDA margin by quarter 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Quarterly financial KPIs FY2025 · 4 records · Q4 FY2025: 13.7 (-2% vs Q1 FY2025)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Financial_KPIs_FY2025.csv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Order bookings by month and region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Order bookings by month and region · 165 records · 2026-09 total: 43.0 (+44% vs 2024-01)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Order_Bookings_Monthly.csv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Weighted pipeline by stage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 · 540 records · Largest: Closed won at 94.5 (43%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Litigation exposure by risk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Litigation register · 14 records · Largest: High at 12.0 (39%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D23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EXECUTIVE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Litigation_Register.csv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Salaried headcount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Salaried staff · 650 records · Largest: Operations at 204.0 (31%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Staff_Directory.csv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Pipeline value by stage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 · 540 records · Largest: Closed lost at 96.6 (19%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Top 10 account managers by weighted pipeline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 · 540 records · Largest: Benoît Roux at 17.6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Top 10 account managers by weighted pipeline (EUR m) -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Weighted value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Benoît Roux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17.6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Fernando Freitas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17.3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Jiřina Tůma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16.6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Karolína Matoušková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15.9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Gilles Perrin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15.5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Marco Anjos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14.9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Miroslava Sedláčková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14.7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Alexa Schlager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Freja Gregersen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13.7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Paweł Maciejewicz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 (540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Pipeline by product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 · 540 records · Largest: HX-110 at 40.4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Pipeline by product (EUR m) -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CU-4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35.6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SmartFlow Monitoring (SaaS)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Agreement 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33.1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28.8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Spare Parts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27.6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27.2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26.6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 (540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Customer revenue by industry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Customer accounts · 320 records · Largest: Pulp &amp; Paper at 67.7 (17%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Customer_Accounts.csv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Top 10 customers by annual revenue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Customer accounts · 320 records · Largest: Seifert Climate Systems AG at 2.4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Customer_Accounts.csv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Top 10 customers by annual revenue (EUR m) -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Account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Annual revenue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Seifert Climate Systems 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Skov Mining A/S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Aarhus Paper Mills 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Rantanen Waterworks Oyj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Larsson Water Services 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Poznań Pulp &amp; Board S.A.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Reinprecht Installations GmbH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Steffensen Mining A/S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2.3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Ostrava Energy s.r.o.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2.3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Brunel Installations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Customer_Accounts.csv (320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Order bookings by region and year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Order bookings by month and region · 165 records · Largest: Nordics at 327.2 (27%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Order_Bookings_Monthly.csv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Headcount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Salaried staff · 650 records · Largest: Operations at 204.0 (31%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Staff_Directory.csv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Headcount by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Salaried staff · 650 records · Largest: Tampere Works at 220.0 (34%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Staff_Directory.csv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Hires by start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Salaried staff · 650 records · 2025: 28.0 (-12% vs 2004)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Staff_Directory.csv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Open positions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Open positions · 46 records · Largest: Procurement at 7.0 (15%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Open_Positions.csv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Performance ratings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Performance calibration 2025 · 240 records · Largest: 3 - Meets at 136.0 (57%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D23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EXECUTIVE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Performance_Calibration_2025.csv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Stock value by site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Inventory levels · 400 records · Largest: Porto Foundry at 64.0 (15%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Inventory_Levels.csv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SKUs below reorder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Inventory levels · 400 records · Largest: OK at 356.0 (89%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Inventory_Levels.csv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Safety incidents by site and severity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Safety incidents 2025 · 120 records · Largest: Tampere Works at 19.0 (16%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Safety_Incident_Log_2025.csv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Planned production by site (units)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Production plan 2026 Q1 · 260 records · Largest: Lyon Systems at 5,020.0 (18%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Production_Plan_2026_Q1.csv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Sources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Every figure is computed directly from the records below - no figure is written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D23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Customer accounts  -  Customer_Accounts.csv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Quarterly financial KPIs FY2025  -  Financial_KPIs_FY2025.csv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8A1B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Inventory levels  -  Inventory_Levels.csv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2311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1518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Litigation register  -  Litigation_Register.csv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6151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3C50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Open positions  -  Open_Positions.csv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999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9E6A"/>
                </a:solidFill>
                <a:latin typeface="Calibri"/>
              </a:defRPr>
            </a:pPr>
            <a:r>
              <a:t>All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Order bookings by month and region  -  Order_Bookings_Monthly.csv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8A1B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Performance calibration 2025  -  Performance_Calibration_2025.csv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767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3C50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5137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Production plan 2026 Q1  -  Production_Plan_2026_Q1.csv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1513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3542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Safety incidents 2025  -  Safety_Incident_Log_2025.csv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5354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194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Sales pipeline 2026  -  Sales_Pipeline_2026.csv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919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Salaried staff  -  Staff_Directory.csv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9E6A"/>
                </a:solidFill>
                <a:latin typeface="Calibri"/>
              </a:defRPr>
            </a:pPr>
            <a:r>
              <a:t>All staff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Halvorsen Intelligence 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