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Budget fy2026</c:v>
                </c:pt>
              </c:strCache>
            </c:strRef>
          </c:tx>
          <c:spPr>
            <a:solidFill>
              <a:srgbClr val="1FB5A3"/>
            </a:solidFill>
          </c:spPr>
          <c:cat>
            <c:strRef>
              <c:f>Sheet1!$A$2:$A$12</c:f>
              <c:strCache>
                <c:ptCount val="11"/>
                <c:pt idx="0">
                  <c:v>Human Resources</c:v>
                </c:pt>
                <c:pt idx="1">
                  <c:v>Operations</c:v>
                </c:pt>
                <c:pt idx="2">
                  <c:v>Procurement</c:v>
                </c:pt>
                <c:pt idx="3">
                  <c:v>Engineering</c:v>
                </c:pt>
                <c:pt idx="4">
                  <c:v>Quality</c:v>
                </c:pt>
                <c:pt idx="5">
                  <c:v>IT</c:v>
                </c:pt>
                <c:pt idx="6">
                  <c:v>Finance</c:v>
                </c:pt>
                <c:pt idx="7">
                  <c:v>Sales</c:v>
                </c:pt>
                <c:pt idx="8">
                  <c:v>Executive Office</c:v>
                </c:pt>
                <c:pt idx="9">
                  <c:v>Legal &amp; Compliance</c:v>
                </c:pt>
                <c:pt idx="10">
                  <c:v>Marketing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8.64</c:v>
                </c:pt>
                <c:pt idx="1">
                  <c:v>9.85</c:v>
                </c:pt>
                <c:pt idx="2">
                  <c:v>10.01</c:v>
                </c:pt>
                <c:pt idx="3">
                  <c:v>11.96</c:v>
                </c:pt>
                <c:pt idx="4">
                  <c:v>12.2</c:v>
                </c:pt>
                <c:pt idx="5">
                  <c:v>13.1</c:v>
                </c:pt>
                <c:pt idx="6">
                  <c:v>15.43</c:v>
                </c:pt>
                <c:pt idx="7">
                  <c:v>18.94</c:v>
                </c:pt>
                <c:pt idx="8">
                  <c:v>19.53</c:v>
                </c:pt>
                <c:pt idx="9">
                  <c:v>21.52</c:v>
                </c:pt>
                <c:pt idx="10">
                  <c:v>21.75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 fy2025</c:v>
                </c:pt>
              </c:strCache>
            </c:strRef>
          </c:tx>
          <c:spPr>
            <a:solidFill>
              <a:srgbClr val="3D6FE0"/>
            </a:solidFill>
          </c:spPr>
          <c:cat>
            <c:strRef>
              <c:f>Sheet1!$A$2:$A$12</c:f>
              <c:strCache>
                <c:ptCount val="11"/>
                <c:pt idx="0">
                  <c:v>Human Resources</c:v>
                </c:pt>
                <c:pt idx="1">
                  <c:v>Operations</c:v>
                </c:pt>
                <c:pt idx="2">
                  <c:v>Procurement</c:v>
                </c:pt>
                <c:pt idx="3">
                  <c:v>Engineering</c:v>
                </c:pt>
                <c:pt idx="4">
                  <c:v>Quality</c:v>
                </c:pt>
                <c:pt idx="5">
                  <c:v>IT</c:v>
                </c:pt>
                <c:pt idx="6">
                  <c:v>Finance</c:v>
                </c:pt>
                <c:pt idx="7">
                  <c:v>Sales</c:v>
                </c:pt>
                <c:pt idx="8">
                  <c:v>Executive Office</c:v>
                </c:pt>
                <c:pt idx="9">
                  <c:v>Legal &amp; Compliance</c:v>
                </c:pt>
                <c:pt idx="10">
                  <c:v>Marketing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8.75</c:v>
                </c:pt>
                <c:pt idx="1">
                  <c:v>9.85</c:v>
                </c:pt>
                <c:pt idx="2">
                  <c:v>9.73</c:v>
                </c:pt>
                <c:pt idx="3">
                  <c:v>11.98</c:v>
                </c:pt>
                <c:pt idx="4">
                  <c:v>11.84</c:v>
                </c:pt>
                <c:pt idx="5">
                  <c:v>12.32</c:v>
                </c:pt>
                <c:pt idx="6">
                  <c:v>14.89</c:v>
                </c:pt>
                <c:pt idx="7">
                  <c:v>18.51</c:v>
                </c:pt>
                <c:pt idx="8">
                  <c:v>19.84</c:v>
                </c:pt>
                <c:pt idx="9">
                  <c:v>21.94</c:v>
                </c:pt>
                <c:pt idx="10">
                  <c:v>22.2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5.0"/>
          <c:min val="0.0"/>
        </c:scaling>
        <c:delete val="0"/>
        <c:axPos val="b"/>
        <c:majorGridlines>
          <c:spPr>
            <a:ln>
              <a:solidFill>
                <a:srgbClr val="E3E7EE"/>
              </a:solidFill>
            </a:ln>
          </c:spPr>
        </c:majorGridlines>
        <c:numFmt formatCode="#,##0.#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  <c:majorUnit val="5.0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Net income</c:v>
                </c:pt>
              </c:strCache>
            </c:strRef>
          </c:tx>
          <c:spPr>
            <a:solidFill>
              <a:srgbClr val="1FB5A3"/>
            </a:solidFill>
          </c:spPr>
          <c:cat>
            <c:strRef>
              <c:f>Sheet1!$A$2:$A$5</c:f>
              <c:strCache>
                <c:ptCount val="4"/>
                <c:pt idx="0">
                  <c:v>Q1 FY2025</c:v>
                </c:pt>
                <c:pt idx="1">
                  <c:v>Q2 FY2025</c:v>
                </c:pt>
                <c:pt idx="2">
                  <c:v>Q3 FY2025</c:v>
                </c:pt>
                <c:pt idx="3">
                  <c:v>Q4 FY2025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7.9</c:v>
                </c:pt>
                <c:pt idx="1">
                  <c:v>9.1</c:v>
                </c:pt>
                <c:pt idx="2">
                  <c:v>9.3</c:v>
                </c:pt>
                <c:pt idx="3">
                  <c:v>8.9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.5"/>
          <c:min val="0.0"/>
        </c:scaling>
        <c:delete val="0"/>
        <c:axPos val="l"/>
        <c:majorGridlines>
          <c:spPr>
            <a:ln>
              <a:solidFill>
                <a:srgbClr val="E3E7EE"/>
              </a:solidFill>
            </a:ln>
          </c:spPr>
        </c:majorGridlines>
        <c:numFmt formatCode="#,##0.#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  <c:majorUnit val="2.1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Amount</c:v>
                </c:pt>
              </c:strCache>
            </c:strRef>
          </c:tx>
          <c:dPt>
            <c:idx val="0"/>
            <c:spPr>
              <a:solidFill>
                <a:srgbClr val="1FB5A3"/>
              </a:solidFill>
            </c:spPr>
          </c:dPt>
          <c:dPt>
            <c:idx val="1"/>
            <c:spPr>
              <a:solidFill>
                <a:srgbClr val="3D6FE0"/>
              </a:solidFill>
            </c:spPr>
          </c:dPt>
          <c:dPt>
            <c:idx val="2"/>
            <c:spPr>
              <a:solidFill>
                <a:srgbClr val="F2A93B"/>
              </a:solidFill>
            </c:spPr>
          </c:dPt>
          <c:cat>
            <c:strRef>
              <c:f>Sheet1!$A$2:$A$4</c:f>
              <c:strCache>
                <c:ptCount val="3"/>
                <c:pt idx="0">
                  <c:v>Paid</c:v>
                </c:pt>
                <c:pt idx="1">
                  <c:v>Approved</c:v>
                </c:pt>
                <c:pt idx="2">
                  <c:v>On hold - price variance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37.48</c:v>
                </c:pt>
                <c:pt idx="1">
                  <c:v>23.6</c:v>
                </c:pt>
                <c:pt idx="2">
                  <c:v>13.59</c:v>
                </c:pt>
              </c:numCache>
            </c:numRef>
          </c:val>
        </c:ser>
        <c:dLbls>
          <c:numFmt formatCode="0%" sourceLinked="0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latin typeface="Calibri"/>
        </a:defRPr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Amount</c:v>
                </c:pt>
              </c:strCache>
            </c:strRef>
          </c:tx>
          <c:spPr>
            <a:solidFill>
              <a:srgbClr val="1FB5A3"/>
            </a:solidFill>
          </c:spPr>
          <c:cat>
            <c:strRef>
              <c:f>Sheet1!$A$2:$A$8</c:f>
              <c:strCache>
                <c:ptCount val="7"/>
                <c:pt idx="0">
                  <c:v>Flight</c:v>
                </c:pt>
                <c:pt idx="1">
                  <c:v>Conference fee</c:v>
                </c:pt>
                <c:pt idx="2">
                  <c:v>Meals</c:v>
                </c:pt>
                <c:pt idx="3">
                  <c:v>Hotel</c:v>
                </c:pt>
                <c:pt idx="4">
                  <c:v>Mileage</c:v>
                </c:pt>
                <c:pt idx="5">
                  <c:v>Taxi</c:v>
                </c:pt>
                <c:pt idx="6">
                  <c:v>Client entertainment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157040.2</c:v>
                </c:pt>
                <c:pt idx="1">
                  <c:v>114627.55</c:v>
                </c:pt>
                <c:pt idx="2">
                  <c:v>36075.62</c:v>
                </c:pt>
                <c:pt idx="3">
                  <c:v>35536.12</c:v>
                </c:pt>
                <c:pt idx="4">
                  <c:v>33273.04</c:v>
                </c:pt>
                <c:pt idx="5">
                  <c:v>32837.76</c:v>
                </c:pt>
                <c:pt idx="6">
                  <c:v>27614.26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00000.0"/>
          <c:min val="0.0"/>
        </c:scaling>
        <c:delete val="0"/>
        <c:axPos val="l"/>
        <c:majorGridlines>
          <c:spPr>
            <a:ln>
              <a:solidFill>
                <a:srgbClr val="E3E7EE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  <c:majorUnit val="40000.0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Amount</c:v>
                </c:pt>
              </c:strCache>
            </c:strRef>
          </c:tx>
          <c:spPr>
            <a:ln w="28575">
              <a:solidFill>
                <a:srgbClr val="1FB5A3"/>
              </a:solidFill>
            </a:ln>
          </c:spPr>
          <c:marker>
            <c:symbol val="circle"/>
            <c:size val="5"/>
            <c:spPr>
              <a:solidFill>
                <a:srgbClr val="1FB5A3"/>
              </a:solidFill>
              <a:ln>
                <a:solidFill>
                  <a:srgbClr val="1FB5A3"/>
                </a:solidFill>
              </a:ln>
            </c:spPr>
          </c:marker>
          <c:cat>
            <c:strRef>
              <c:f>Sheet1!$A$2:$A$10</c:f>
              <c:strCache>
                <c:ptCount val="9"/>
                <c:pt idx="0">
                  <c:v>2026-01</c:v>
                </c:pt>
                <c:pt idx="1">
                  <c:v>2026-02</c:v>
                </c:pt>
                <c:pt idx="2">
                  <c:v>2026-03</c:v>
                </c:pt>
                <c:pt idx="3">
                  <c:v>2026-04</c:v>
                </c:pt>
                <c:pt idx="4">
                  <c:v>2026-05</c:v>
                </c:pt>
                <c:pt idx="5">
                  <c:v>2026-06</c:v>
                </c:pt>
                <c:pt idx="6">
                  <c:v>2026-07</c:v>
                </c:pt>
                <c:pt idx="7">
                  <c:v>2026-08</c:v>
                </c:pt>
                <c:pt idx="8">
                  <c:v>2026-09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68281.82</c:v>
                </c:pt>
                <c:pt idx="1">
                  <c:v>53218.72</c:v>
                </c:pt>
                <c:pt idx="2">
                  <c:v>58755.65</c:v>
                </c:pt>
                <c:pt idx="3">
                  <c:v>55102.56</c:v>
                </c:pt>
                <c:pt idx="4">
                  <c:v>49170.94</c:v>
                </c:pt>
                <c:pt idx="5">
                  <c:v>35964.71</c:v>
                </c:pt>
                <c:pt idx="6">
                  <c:v>48862.59</c:v>
                </c:pt>
                <c:pt idx="7">
                  <c:v>40514.34</c:v>
                </c:pt>
                <c:pt idx="8">
                  <c:v>27133.22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80000.0"/>
          <c:min val="0.0"/>
        </c:scaling>
        <c:delete val="0"/>
        <c:axPos val="l"/>
        <c:majorGridlines>
          <c:spPr>
            <a:ln>
              <a:solidFill>
                <a:srgbClr val="E3E7EE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crossAx val="2118791784"/>
        <c:crosses val="autoZero"/>
        <c:majorUnit val="16000.0"/>
      </c:valAx>
    </c:plotArea>
    <c:plotVisOnly val="1"/>
    <c:dispBlanksAs val="gap"/>
    <c:showDLblsOverMax val="0"/>
  </c:chart>
  <c:txPr>
    <a:bodyPr/>
    <a:lstStyle/>
    <a:p>
      <a:pPr>
        <a:defRPr sz="1100"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103120"/>
            <a:ext cx="109728" cy="2011680"/>
          </a:xfrm>
          <a:prstGeom prst="roundRect">
            <a:avLst>
              <a:gd name="adj" fmla="val 8000"/>
            </a:avLst>
          </a:prstGeom>
          <a:solidFill>
            <a:srgbClr val="1FB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920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B5A3"/>
                </a:solidFill>
                <a:latin typeface="Calibri"/>
              </a:defRPr>
            </a:pPr>
            <a:r>
              <a:t>HALVORSEN INDUSTRIAL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3774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Finance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383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8C3DA"/>
                </a:solidFill>
                <a:latin typeface="Calibri"/>
              </a:defRPr>
            </a:pPr>
            <a:r>
              <a:t>Quarterly results, budget versus actuals, payables and expense spend.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5120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C3DA"/>
                </a:solidFill>
                <a:latin typeface="Calibri"/>
              </a:defRPr>
            </a:pPr>
            <a:r>
              <a:t>Prepared for Anna Kuisma, Head of Finance  ·  14 October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5532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6B0"/>
                </a:solidFill>
                <a:latin typeface="Calibri"/>
              </a:defRPr>
            </a:pPr>
            <a:r>
              <a:t>Classification: Management  ·  Generated by Halvorsen Intelligence Portal from source records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8000"/>
            </a:avLst>
          </a:prstGeom>
          <a:solidFill>
            <a:srgbClr val="1FB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233"/>
                </a:solidFill>
                <a:latin typeface="Calibri"/>
              </a:defRPr>
            </a:pPr>
            <a:r>
              <a:t>Key figures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68F"/>
                </a:solidFill>
                <a:latin typeface="Calibri"/>
              </a:defRPr>
            </a:pPr>
            <a:r>
              <a:t>As of 14 October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66960" y="384048"/>
            <a:ext cx="1691640" cy="329184"/>
          </a:xfrm>
          <a:prstGeom prst="roundRect">
            <a:avLst>
              <a:gd name="adj" fmla="val 8000"/>
            </a:avLst>
          </a:prstGeom>
          <a:solidFill>
            <a:srgbClr val="C9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MANAGEMENT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3520440" cy="205740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8288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B768F"/>
                </a:solidFill>
                <a:latin typeface="Calibri"/>
              </a:defRPr>
            </a:pPr>
            <a:r>
              <a:t>FY2025 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2402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A1020"/>
                </a:solidFill>
                <a:latin typeface="Calibri"/>
              </a:defRPr>
            </a:pPr>
            <a:r>
              <a:t>EUR 412.6m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0175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68F"/>
                </a:solidFill>
                <a:latin typeface="Calibri"/>
              </a:defRPr>
            </a:pPr>
            <a:r>
              <a:t>Quarterly financial KPIs FY2025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1554480"/>
            <a:ext cx="3520440" cy="205740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1999" y="18288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B768F"/>
                </a:solidFill>
                <a:latin typeface="Calibri"/>
              </a:defRPr>
            </a:pPr>
            <a:r>
              <a:t>AVG EBITDA MARGIN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1999" y="22402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A1020"/>
                </a:solidFill>
                <a:latin typeface="Calibri"/>
              </a:defRPr>
            </a:pPr>
            <a:r>
              <a:t>14.6%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1999" y="30175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68F"/>
                </a:solidFill>
                <a:latin typeface="Calibri"/>
              </a:defRPr>
            </a:pPr>
            <a:r>
              <a:t>Quarterly financial KPIs FY2025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19" y="1554480"/>
            <a:ext cx="3520440" cy="205740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8288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B768F"/>
                </a:solidFill>
                <a:latin typeface="Calibri"/>
              </a:defRPr>
            </a:pPr>
            <a:r>
              <a:t>FY2025 ORDER INTAKE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2402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A1020"/>
                </a:solidFill>
                <a:latin typeface="Calibri"/>
              </a:defRPr>
            </a:pPr>
            <a:r>
              <a:t>EUR 448.5m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0175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68F"/>
                </a:solidFill>
                <a:latin typeface="Calibri"/>
              </a:defRPr>
            </a:pPr>
            <a:r>
              <a:t>Quarterly financial KPIs FY2025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886200"/>
            <a:ext cx="3520440" cy="205740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41605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B768F"/>
                </a:solidFill>
                <a:latin typeface="Calibri"/>
              </a:defRPr>
            </a:pPr>
            <a:r>
              <a:t>WEIGHTED PIPELINE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457200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A1020"/>
                </a:solidFill>
                <a:latin typeface="Calibri"/>
              </a:defRPr>
            </a:pPr>
            <a:r>
              <a:t>EUR 219.0m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59" y="53492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68F"/>
                </a:solidFill>
                <a:latin typeface="Calibri"/>
              </a:defRPr>
            </a:pPr>
            <a:r>
              <a:t>Sales pipeline 2026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79" y="3886200"/>
            <a:ext cx="3520440" cy="205740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1999" y="41605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B768F"/>
                </a:solidFill>
                <a:latin typeface="Calibri"/>
              </a:defRPr>
            </a:pPr>
            <a:r>
              <a:t>CUSTOMER ACCOUNTS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1999" y="457200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A1020"/>
                </a:solidFill>
                <a:latin typeface="Calibri"/>
              </a:defRPr>
            </a:pPr>
            <a:r>
              <a:t>320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1999" y="53492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68F"/>
                </a:solidFill>
                <a:latin typeface="Calibri"/>
              </a:defRPr>
            </a:pPr>
            <a:r>
              <a:t>Customer accounts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19" y="3886200"/>
            <a:ext cx="3520440" cy="205740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41605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B768F"/>
                </a:solidFill>
                <a:latin typeface="Calibri"/>
              </a:defRPr>
            </a:pPr>
            <a:r>
              <a:t>SALARIED STAFF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457200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A1020"/>
                </a:solidFill>
                <a:latin typeface="Calibri"/>
              </a:defRPr>
            </a:pPr>
            <a:r>
              <a:t>650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53492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68F"/>
                </a:solidFill>
                <a:latin typeface="Calibri"/>
              </a:defRPr>
            </a:pPr>
            <a:r>
              <a:t>Salaried staff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0080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68F"/>
                </a:solidFill>
                <a:latin typeface="Calibri"/>
              </a:defRPr>
            </a:pPr>
            <a:r>
              <a:t>Source: Financial KPIs, pipeline, customer, HR, procurement, inventory and safety datasets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68F"/>
                </a:solidFill>
                <a:latin typeface="Calibr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8000"/>
            </a:avLst>
          </a:prstGeom>
          <a:solidFill>
            <a:srgbClr val="1FB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233"/>
                </a:solidFill>
                <a:latin typeface="Calibri"/>
              </a:defRPr>
            </a:pPr>
            <a:r>
              <a:t>FY2026 budget by department (EUR 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68F"/>
                </a:solidFill>
                <a:latin typeface="Calibri"/>
              </a:defRPr>
            </a:pPr>
            <a:r>
              <a:t>Budget FY2026 by department · 88 records · Largest: Marketing at 21.8 (13% of total)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66960" y="384048"/>
            <a:ext cx="1691640" cy="329184"/>
          </a:xfrm>
          <a:prstGeom prst="roundRect">
            <a:avLst>
              <a:gd name="adj" fmla="val 8000"/>
            </a:avLst>
          </a:prstGeom>
          <a:solidFill>
            <a:srgbClr val="C9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MANAGEMENT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371600"/>
          <a:ext cx="1106424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0080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68F"/>
                </a:solidFill>
                <a:latin typeface="Calibri"/>
              </a:defRPr>
            </a:pPr>
            <a:r>
              <a:t>Source: Budget_FY2026_by_Department.csv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68F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8000"/>
            </a:avLst>
          </a:prstGeom>
          <a:solidFill>
            <a:srgbClr val="1FB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233"/>
                </a:solidFill>
                <a:latin typeface="Calibri"/>
              </a:defRPr>
            </a:pPr>
            <a:r>
              <a:t>Net income by quarter (EUR 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68F"/>
                </a:solidFill>
                <a:latin typeface="Calibri"/>
              </a:defRPr>
            </a:pPr>
            <a:r>
              <a:t>Quarterly financial KPIs FY2025 · 4 records · Largest: Q3 FY2025 at 9.3 (26% of total)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66960" y="384048"/>
            <a:ext cx="1691640" cy="329184"/>
          </a:xfrm>
          <a:prstGeom prst="roundRect">
            <a:avLst>
              <a:gd name="adj" fmla="val 8000"/>
            </a:avLst>
          </a:prstGeom>
          <a:solidFill>
            <a:srgbClr val="C9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MANAGEMENT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371600"/>
          <a:ext cx="1106424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0080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68F"/>
                </a:solidFill>
                <a:latin typeface="Calibri"/>
              </a:defRPr>
            </a:pPr>
            <a:r>
              <a:t>Source: Financial_KPIs_FY2025.csv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68F"/>
                </a:solidFill>
                <a:latin typeface="Calibr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8000"/>
            </a:avLst>
          </a:prstGeom>
          <a:solidFill>
            <a:srgbClr val="1FB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233"/>
                </a:solidFill>
                <a:latin typeface="Calibri"/>
              </a:defRPr>
            </a:pPr>
            <a:r>
              <a:t>Payables by status (EUR 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68F"/>
                </a:solidFill>
                <a:latin typeface="Calibri"/>
              </a:defRPr>
            </a:pPr>
            <a:r>
              <a:t>Accounts payable 2026 · 420 records · Largest: Paid at 37.5 (50% of total)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66960" y="384048"/>
            <a:ext cx="1691640" cy="329184"/>
          </a:xfrm>
          <a:prstGeom prst="roundRect">
            <a:avLst>
              <a:gd name="adj" fmla="val 8000"/>
            </a:avLst>
          </a:prstGeom>
          <a:solidFill>
            <a:srgbClr val="3D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DEPARTMENT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371600"/>
          <a:ext cx="1106424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0080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68F"/>
                </a:solidFill>
                <a:latin typeface="Calibri"/>
              </a:defRPr>
            </a:pPr>
            <a:r>
              <a:t>Source: Accounts_Payable_Ledger_2026.csv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68F"/>
                </a:solidFill>
                <a:latin typeface="Calibr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8000"/>
            </a:avLst>
          </a:prstGeom>
          <a:solidFill>
            <a:srgbClr val="1FB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233"/>
                </a:solidFill>
                <a:latin typeface="Calibri"/>
              </a:defRPr>
            </a:pPr>
            <a:r>
              <a:t>Expense claims by category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68F"/>
                </a:solidFill>
                <a:latin typeface="Calibri"/>
              </a:defRPr>
            </a:pPr>
            <a:r>
              <a:t>Expense claims 2026 · 800 records · Largest: Flight at 157,040.2 (36% of total)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66960" y="384048"/>
            <a:ext cx="1691640" cy="329184"/>
          </a:xfrm>
          <a:prstGeom prst="roundRect">
            <a:avLst>
              <a:gd name="adj" fmla="val 8000"/>
            </a:avLst>
          </a:prstGeom>
          <a:solidFill>
            <a:srgbClr val="3D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DEPARTMENT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371600"/>
          <a:ext cx="1106424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0080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68F"/>
                </a:solidFill>
                <a:latin typeface="Calibri"/>
              </a:defRPr>
            </a:pPr>
            <a:r>
              <a:t>Source: Expense_Claims_2026.csv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68F"/>
                </a:solidFill>
                <a:latin typeface="Calibr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8000"/>
            </a:avLst>
          </a:prstGeom>
          <a:solidFill>
            <a:srgbClr val="1FB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233"/>
                </a:solidFill>
                <a:latin typeface="Calibri"/>
              </a:defRPr>
            </a:pPr>
            <a:r>
              <a:t>Expense claims per month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68F"/>
                </a:solidFill>
                <a:latin typeface="Calibri"/>
              </a:defRPr>
            </a:pPr>
            <a:r>
              <a:t>Expense claims 2026 · 800 records · 2026-09: 27,133.2 (-60% vs 2026-01)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66960" y="384048"/>
            <a:ext cx="1691640" cy="329184"/>
          </a:xfrm>
          <a:prstGeom prst="roundRect">
            <a:avLst>
              <a:gd name="adj" fmla="val 8000"/>
            </a:avLst>
          </a:prstGeom>
          <a:solidFill>
            <a:srgbClr val="3D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DEPARTMENT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371600"/>
          <a:ext cx="1106424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0080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68F"/>
                </a:solidFill>
                <a:latin typeface="Calibri"/>
              </a:defRPr>
            </a:pPr>
            <a:r>
              <a:t>Source: Expense_Claims_2026.csv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68F"/>
                </a:solidFill>
                <a:latin typeface="Calibr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8000"/>
            </a:avLst>
          </a:prstGeom>
          <a:solidFill>
            <a:srgbClr val="1FB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233"/>
                </a:solidFill>
                <a:latin typeface="Calibri"/>
              </a:defRPr>
            </a:pPr>
            <a:r>
              <a:t>Sources and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68F"/>
                </a:solidFill>
                <a:latin typeface="Calibri"/>
              </a:defRPr>
            </a:pPr>
            <a:r>
              <a:t>Every figure is computed directly from the records below - no figure is written by AI.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66960" y="384048"/>
            <a:ext cx="1691640" cy="329184"/>
          </a:xfrm>
          <a:prstGeom prst="roundRect">
            <a:avLst>
              <a:gd name="adj" fmla="val 8000"/>
            </a:avLst>
          </a:prstGeom>
          <a:solidFill>
            <a:srgbClr val="C9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B2233"/>
                </a:solidFill>
                <a:latin typeface="Calibri"/>
              </a:defRPr>
            </a:pPr>
            <a:r>
              <a:t>•  Accounts payable 2026  -  Accounts_Payable_Ledger_2026.csv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0" y="1463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D6FE0"/>
                </a:solidFill>
                <a:latin typeface="Calibri"/>
              </a:defRPr>
            </a:pPr>
            <a:r>
              <a:t>Department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47088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B2233"/>
                </a:solidFill>
                <a:latin typeface="Calibri"/>
              </a:defRPr>
            </a:pPr>
            <a:r>
              <a:t>•  Budget FY2026 by department  -  Budget_FY2026_by_Department.csv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0" y="184708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98A1B"/>
                </a:solidFill>
                <a:latin typeface="Calibri"/>
              </a:defRPr>
            </a:pPr>
            <a:r>
              <a:t>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31136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B2233"/>
                </a:solidFill>
                <a:latin typeface="Calibri"/>
              </a:defRPr>
            </a:pPr>
            <a:r>
              <a:t>•  Expense claims 2026  -  Expense_Claims_2026.csv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0" y="2231136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D6FE0"/>
                </a:solidFill>
                <a:latin typeface="Calibri"/>
              </a:defRPr>
            </a:pPr>
            <a:r>
              <a:t>Department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615184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B2233"/>
                </a:solidFill>
                <a:latin typeface="Calibri"/>
              </a:defRPr>
            </a:pPr>
            <a:r>
              <a:t>•  Quarterly financial KPIs FY2025  -  Financial_KPIs_FY2025.csv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2615184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98A1B"/>
                </a:solidFill>
                <a:latin typeface="Calibri"/>
              </a:defRPr>
            </a:pPr>
            <a:r>
              <a:t>Management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0080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68F"/>
                </a:solidFill>
                <a:latin typeface="Calibri"/>
              </a:defRPr>
            </a:pPr>
            <a:r>
              <a:t>Source: Halvorsen Intelligence Portal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68F"/>
                </a:solidFill>
                <a:latin typeface="Calibr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