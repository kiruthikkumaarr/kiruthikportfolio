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Sheet1!$A$2:$A$7</c:f>
              <c:strCache>
                <c:ptCount val="6"/>
                <c:pt idx="0">
                  <c:v>Closed lost</c:v>
                </c:pt>
                <c:pt idx="1">
                  <c:v>Closed won</c:v>
                </c:pt>
                <c:pt idx="2">
                  <c:v>Proposal</c:v>
                </c:pt>
                <c:pt idx="3">
                  <c:v>Needs analysis</c:v>
                </c:pt>
                <c:pt idx="4">
                  <c:v>Negotiation</c:v>
                </c:pt>
                <c:pt idx="5">
                  <c:v>Qualification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96.63</c:v>
                </c:pt>
                <c:pt idx="1">
                  <c:v>94.52</c:v>
                </c:pt>
                <c:pt idx="2">
                  <c:v>86.11</c:v>
                </c:pt>
                <c:pt idx="3">
                  <c:v>82.52</c:v>
                </c:pt>
                <c:pt idx="4">
                  <c:v>82.5</c:v>
                </c:pt>
                <c:pt idx="5">
                  <c:v>73.49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2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value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Sheet1!$A$2:$A$11</c:f>
              <c:strCache>
                <c:ptCount val="10"/>
                <c:pt idx="0">
                  <c:v>Paweł Maciejewicz</c:v>
                </c:pt>
                <c:pt idx="1">
                  <c:v>Freja Gregersen</c:v>
                </c:pt>
                <c:pt idx="2">
                  <c:v>Alexa Schlager</c:v>
                </c:pt>
                <c:pt idx="3">
                  <c:v>Miroslava Sedláčková</c:v>
                </c:pt>
                <c:pt idx="4">
                  <c:v>Marco Anjos</c:v>
                </c:pt>
                <c:pt idx="5">
                  <c:v>Gilles Perrin</c:v>
                </c:pt>
                <c:pt idx="6">
                  <c:v>Karolína Matoušková</c:v>
                </c:pt>
                <c:pt idx="7">
                  <c:v>Jiřina Tůma</c:v>
                </c:pt>
                <c:pt idx="8">
                  <c:v>Fernando Freitas</c:v>
                </c:pt>
                <c:pt idx="9">
                  <c:v>Benoît Roux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12.42</c:v>
                </c:pt>
                <c:pt idx="1">
                  <c:v>13.69</c:v>
                </c:pt>
                <c:pt idx="2">
                  <c:v>13.99</c:v>
                </c:pt>
                <c:pt idx="3">
                  <c:v>14.71</c:v>
                </c:pt>
                <c:pt idx="4">
                  <c:v>14.9</c:v>
                </c:pt>
                <c:pt idx="5">
                  <c:v>15.5</c:v>
                </c:pt>
                <c:pt idx="6">
                  <c:v>15.94</c:v>
                </c:pt>
                <c:pt idx="7">
                  <c:v>16.64</c:v>
                </c:pt>
                <c:pt idx="8">
                  <c:v>17.31</c:v>
                </c:pt>
                <c:pt idx="9">
                  <c:v>17.59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b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4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Sheet1!$A$2:$A$11</c:f>
              <c:strCache>
                <c:ptCount val="10"/>
                <c:pt idx="0">
                  <c:v>HX-200</c:v>
                </c:pt>
                <c:pt idx="1">
                  <c:v>HX-160</c:v>
                </c:pt>
                <c:pt idx="2">
                  <c:v>Spare Parts Kit</c:v>
                </c:pt>
                <c:pt idx="3">
                  <c:v>HX-520</c:v>
                </c:pt>
                <c:pt idx="4">
                  <c:v>Service Agreement Gold</c:v>
                </c:pt>
                <c:pt idx="5">
                  <c:v>SmartFlow Monitoring (SaaS)</c:v>
                </c:pt>
                <c:pt idx="6">
                  <c:v>HX-280</c:v>
                </c:pt>
                <c:pt idx="7">
                  <c:v>HX-140</c:v>
                </c:pt>
                <c:pt idx="8">
                  <c:v>CU-4 Controller</c:v>
                </c:pt>
                <c:pt idx="9">
                  <c:v>HX-110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26.55</c:v>
                </c:pt>
                <c:pt idx="1">
                  <c:v>27.2</c:v>
                </c:pt>
                <c:pt idx="2">
                  <c:v>27.6</c:v>
                </c:pt>
                <c:pt idx="3">
                  <c:v>28.84</c:v>
                </c:pt>
                <c:pt idx="4">
                  <c:v>33.14</c:v>
                </c:pt>
                <c:pt idx="5">
                  <c:v>34.01</c:v>
                </c:pt>
                <c:pt idx="6">
                  <c:v>34.42</c:v>
                </c:pt>
                <c:pt idx="7">
                  <c:v>35.58</c:v>
                </c:pt>
                <c:pt idx="8">
                  <c:v>40.38</c:v>
                </c:pt>
                <c:pt idx="9">
                  <c:v>40.39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b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</c:v>
                </c:pt>
              </c:strCache>
            </c:strRef>
          </c:tx>
          <c:dPt>
            <c:idx val="0"/>
            <c:spPr>
              <a:solidFill>
                <a:srgbClr val="1FB5A3"/>
              </a:solidFill>
            </c:spPr>
          </c:dPt>
          <c:dPt>
            <c:idx val="1"/>
            <c:spPr>
              <a:solidFill>
                <a:srgbClr val="3D6FE0"/>
              </a:solidFill>
            </c:spPr>
          </c:dPt>
          <c:dPt>
            <c:idx val="2"/>
            <c:spPr>
              <a:solidFill>
                <a:srgbClr val="F2A93B"/>
              </a:solidFill>
            </c:spPr>
          </c:dPt>
          <c:dPt>
            <c:idx val="3"/>
            <c:spPr>
              <a:solidFill>
                <a:srgbClr val="E0566A"/>
              </a:solidFill>
            </c:spPr>
          </c:dPt>
          <c:dPt>
            <c:idx val="4"/>
            <c:spPr>
              <a:solidFill>
                <a:srgbClr val="8E6CE0"/>
              </a:solidFill>
            </c:spPr>
          </c:dPt>
          <c:dPt>
            <c:idx val="5"/>
            <c:spPr>
              <a:solidFill>
                <a:srgbClr val="5BBF7A"/>
              </a:solidFill>
            </c:spPr>
          </c:dPt>
          <c:dPt>
            <c:idx val="6"/>
            <c:spPr>
              <a:solidFill>
                <a:srgbClr val="4FB3D9"/>
              </a:solidFill>
            </c:spPr>
          </c:dPt>
          <c:cat>
            <c:strRef>
              <c:f>Sheet1!$A$2:$A$8</c:f>
              <c:strCache>
                <c:ptCount val="7"/>
                <c:pt idx="0">
                  <c:v>Pulp &amp; Paper</c:v>
                </c:pt>
                <c:pt idx="1">
                  <c:v>HVAC Contractors</c:v>
                </c:pt>
                <c:pt idx="2">
                  <c:v>Chemicals</c:v>
                </c:pt>
                <c:pt idx="3">
                  <c:v>Mining</c:v>
                </c:pt>
                <c:pt idx="4">
                  <c:v>District Energy</c:v>
                </c:pt>
                <c:pt idx="5">
                  <c:v>Water Utilities</c:v>
                </c:pt>
                <c:pt idx="6">
                  <c:v>Food &amp; Beverage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67.72</c:v>
                </c:pt>
                <c:pt idx="1">
                  <c:v>66.63</c:v>
                </c:pt>
                <c:pt idx="2">
                  <c:v>54.53</c:v>
                </c:pt>
                <c:pt idx="3">
                  <c:v>53.02</c:v>
                </c:pt>
                <c:pt idx="4">
                  <c:v>51.37</c:v>
                </c:pt>
                <c:pt idx="5">
                  <c:v>50.19</c:v>
                </c:pt>
                <c:pt idx="6">
                  <c:v>48.7</c:v>
                </c:pt>
              </c:numCache>
            </c:numRef>
          </c:val>
        </c:ser>
        <c:dLbls>
          <c:numFmt formatCode="0%" sourceLinked="0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Sheet1!$A$2:$A$11</c:f>
              <c:strCache>
                <c:ptCount val="10"/>
                <c:pt idx="0">
                  <c:v>Brunel Installations SA</c:v>
                </c:pt>
                <c:pt idx="1">
                  <c:v>Ostrava Energy s.r.o.</c:v>
                </c:pt>
                <c:pt idx="2">
                  <c:v>Steffensen Mining A/S</c:v>
                </c:pt>
                <c:pt idx="3">
                  <c:v>Reinprecht Installations GmbH</c:v>
                </c:pt>
                <c:pt idx="4">
                  <c:v>Poznań Pulp &amp; Board S.A.</c:v>
                </c:pt>
                <c:pt idx="5">
                  <c:v>Larsson Water Services AB</c:v>
                </c:pt>
                <c:pt idx="6">
                  <c:v>Rantanen Waterworks Oyj</c:v>
                </c:pt>
                <c:pt idx="7">
                  <c:v>Aarhus Paper Mills ApS</c:v>
                </c:pt>
                <c:pt idx="8">
                  <c:v>Skov Mining A/S</c:v>
                </c:pt>
                <c:pt idx="9">
                  <c:v>Seifert Climate Systems AG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2.33</c:v>
                </c:pt>
                <c:pt idx="1">
                  <c:v>2.33</c:v>
                </c:pt>
                <c:pt idx="2">
                  <c:v>2.34</c:v>
                </c:pt>
                <c:pt idx="3">
                  <c:v>2.35</c:v>
                </c:pt>
                <c:pt idx="4">
                  <c:v>2.35</c:v>
                </c:pt>
                <c:pt idx="5">
                  <c:v>2.35</c:v>
                </c:pt>
                <c:pt idx="6">
                  <c:v>2.37</c:v>
                </c:pt>
                <c:pt idx="7">
                  <c:v>2.38</c:v>
                </c:pt>
                <c:pt idx="8">
                  <c:v>2.39</c:v>
                </c:pt>
                <c:pt idx="9">
                  <c:v>2.39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 val="0"/>
        <c:axPos val="b"/>
        <c:majorGridlines>
          <c:spPr>
            <a:ln>
              <a:solidFill>
                <a:srgbClr val="E3E7EE"/>
              </a:solidFill>
            </a:ln>
          </c:spPr>
        </c:majorGridlines>
        <c:numFmt formatCode="#,##0.#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0.6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109728" cy="2011680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B5A3"/>
                </a:solidFill>
                <a:latin typeface="Calibri"/>
              </a:defRPr>
            </a:pPr>
            <a:r>
              <a:t>HALVORSEN INDUSTRIAL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Sales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3DA"/>
                </a:solidFill>
                <a:latin typeface="Calibri"/>
              </a:defRPr>
            </a:pPr>
            <a:r>
              <a:t>Pipeline by stage, product and owner; customer mix; bookings by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3DA"/>
                </a:solidFill>
                <a:latin typeface="Calibri"/>
              </a:defRPr>
            </a:pPr>
            <a:r>
              <a:t>Prepared for Karolína Matoušková, Key Account Manager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B0"/>
                </a:solidFill>
                <a:latin typeface="Calibri"/>
              </a:defRPr>
            </a:pPr>
            <a:r>
              <a:t>Classification: Department  ·  Generated by Halvorsen Intelligence Portal from source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Key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As of 14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WEIGHTED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219.0m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Sales pipeline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320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650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OPEN POSITIONS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Open positions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Financial KPIs, pipeline, customer, HR, procurement, inventory and safety datasets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Pipeline value by stage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Sales pipeline 2026 · 540 records · Largest: Closed lost at 96.6 (19%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Sales_Pipeline_2026.csv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Top 10 account managers by weighted pipeline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Sales pipeline 2026 · 540 records · Largest: Benoît Roux at 17.6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Sales_Pipeline_2026.csv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Top 10 account managers by weighted pipeline (EUR m) -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Sales pipeline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Weighted value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Benoît Roux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17.6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Fernando Freitas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17.3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Jiřina Tůma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16.6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Karolína Matoušková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15.9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Gilles Perrin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15.5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Marco Anjos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14.9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Miroslava Sedláčková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14.7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Alexa Schlager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Freja Gregersen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13.7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Paweł Maciejewicz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Sales_Pipeline_2026.csv (540 records)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Pipeline by product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Sales pipeline 2026 · 540 records · Largest: HX-110 at 40.4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Sales_Pipeline_2026.csv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Pipeline by product (EUR m) -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Sales pipeline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CU-4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35.6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34.4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SmartFlow Monitoring (SaaS)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34.0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Service Agreement 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33.1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28.8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Spare Parts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27.6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27.2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HX-200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26.6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Sales_Pipeline_2026.csv (540 records)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Customer revenue by industry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Customer accounts · 320 records · Largest: Pulp &amp; Paper at 67.7 (17%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Customer_Accounts.csv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Top 10 customers by annual revenue (EUR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Customer accounts · 320 records · Largest: Seifert Climate Systems AG at 2.4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Customer_Accounts.csv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Top 10 customers by annual revenue (EUR m) -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Account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Annual revenue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Seifert Climate Systems 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Skov Mining A/S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Aarhus Paper Mills 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Rantanen Waterworks Oyj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Larsson Water Services 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Poznań Pulp &amp; Board S.A.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Reinprecht Installations GmbH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2.4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Steffensen Mining A/S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2.3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Ostrava Energy s.r.o.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2.3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Brunel Installations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Customer_Accounts.csv (320 records)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Sources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Every figure is computed directly from the records below - no figure is written by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Customer accounts  -  Customer_Accounts.csv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6FE0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Sales pipeline 2026  -  Sales_Pipeline_2026.csv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847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6FE0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Halvorsen Intelligence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