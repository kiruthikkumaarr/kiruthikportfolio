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 repair</c:v>
                </c:pt>
              </c:strCache>
            </c:strRef>
          </c:tx>
          <c:spPr>
            <a:solidFill>
              <a:srgbClr val="1FB5A3"/>
            </a:solidFill>
          </c:spPr>
          <c:cat>
            <c:strRef>
              <c:f>Sheet1!$A$2:$A$6</c:f>
              <c:strCache>
                <c:ptCount val="5"/>
                <c:pt idx="0">
                  <c:v>Laptop</c:v>
                </c:pt>
                <c:pt idx="1">
                  <c:v>Monitor</c:v>
                </c:pt>
                <c:pt idx="2">
                  <c:v>Tablet</c:v>
                </c:pt>
                <c:pt idx="3">
                  <c:v>Docking station</c:v>
                </c:pt>
                <c:pt idx="4">
                  <c:v>Mobile phone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47.0</c:v>
                </c:pt>
                <c:pt idx="1">
                  <c:v>28.0</c:v>
                </c:pt>
                <c:pt idx="2">
                  <c:v>15.0</c:v>
                </c:pt>
                <c:pt idx="3">
                  <c:v>33.0</c:v>
                </c:pt>
                <c:pt idx="4">
                  <c:v>19.0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 use</c:v>
                </c:pt>
              </c:strCache>
            </c:strRef>
          </c:tx>
          <c:spPr>
            <a:solidFill>
              <a:srgbClr val="3D6FE0"/>
            </a:solidFill>
          </c:spPr>
          <c:cat>
            <c:strRef>
              <c:f>Sheet1!$A$2:$A$6</c:f>
              <c:strCache>
                <c:ptCount val="5"/>
                <c:pt idx="0">
                  <c:v>Laptop</c:v>
                </c:pt>
                <c:pt idx="1">
                  <c:v>Monitor</c:v>
                </c:pt>
                <c:pt idx="2">
                  <c:v>Tablet</c:v>
                </c:pt>
                <c:pt idx="3">
                  <c:v>Docking station</c:v>
                </c:pt>
                <c:pt idx="4">
                  <c:v>Mobile phone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111.0</c:v>
                </c:pt>
                <c:pt idx="1">
                  <c:v>77.0</c:v>
                </c:pt>
                <c:pt idx="2">
                  <c:v>85.0</c:v>
                </c:pt>
                <c:pt idx="3">
                  <c:v>62.0</c:v>
                </c:pt>
                <c:pt idx="4">
                  <c:v>79.0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Retired</c:v>
                </c:pt>
              </c:strCache>
            </c:strRef>
          </c:tx>
          <c:spPr>
            <a:solidFill>
              <a:srgbClr val="F2A93B"/>
            </a:solidFill>
          </c:spPr>
          <c:cat>
            <c:strRef>
              <c:f>Sheet1!$A$2:$A$6</c:f>
              <c:strCache>
                <c:ptCount val="5"/>
                <c:pt idx="0">
                  <c:v>Laptop</c:v>
                </c:pt>
                <c:pt idx="1">
                  <c:v>Monitor</c:v>
                </c:pt>
                <c:pt idx="2">
                  <c:v>Tablet</c:v>
                </c:pt>
                <c:pt idx="3">
                  <c:v>Docking station</c:v>
                </c:pt>
                <c:pt idx="4">
                  <c:v>Mobile phone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55.0</c:v>
                </c:pt>
                <c:pt idx="1">
                  <c:v>22.0</c:v>
                </c:pt>
                <c:pt idx="2">
                  <c:v>24.0</c:v>
                </c:pt>
                <c:pt idx="3">
                  <c:v>24.0</c:v>
                </c:pt>
                <c:pt idx="4">
                  <c:v>19.0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0.0"/>
          <c:min val="0.0"/>
        </c:scaling>
        <c:delete val="0"/>
        <c:axPos val="l"/>
        <c:majorGridlines>
          <c:spPr>
            <a:ln>
              <a:solidFill>
                <a:srgbClr val="E3E7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30.0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ln w="28575">
              <a:solidFill>
                <a:srgbClr val="1FB5A3"/>
              </a:solidFill>
            </a:ln>
          </c:spPr>
          <c:marker>
            <c:symbol val="circle"/>
            <c:size val="5"/>
            <c:spPr>
              <a:solidFill>
                <a:srgbClr val="1FB5A3"/>
              </a:solidFill>
              <a:ln>
                <a:solidFill>
                  <a:srgbClr val="1FB5A3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154.0</c:v>
                </c:pt>
                <c:pt idx="1">
                  <c:v>174.0</c:v>
                </c:pt>
                <c:pt idx="2">
                  <c:v>172.0</c:v>
                </c:pt>
                <c:pt idx="3">
                  <c:v>185.0</c:v>
                </c:pt>
                <c:pt idx="4">
                  <c:v>15.0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50.0"/>
          <c:min val="0.0"/>
        </c:scaling>
        <c:delete val="0"/>
        <c:axPos val="l"/>
        <c:majorGridlines>
          <c:spPr>
            <a:ln>
              <a:solidFill>
                <a:srgbClr val="E3E7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  <c:majorUnit val="50.0"/>
      </c:valAx>
    </c:plotArea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103120"/>
            <a:ext cx="109728" cy="2011680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B5A3"/>
                </a:solidFill>
                <a:latin typeface="Calibri"/>
              </a:defRPr>
            </a:pPr>
            <a:r>
              <a:t>HALVORSEN INDUSTRIAL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3774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IT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8C3DA"/>
                </a:solidFill>
                <a:latin typeface="Calibri"/>
              </a:defRPr>
            </a:pPr>
            <a:r>
              <a:t>IT asset estate by type and status and the refresh schedule.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C3DA"/>
                </a:solidFill>
                <a:latin typeface="Calibri"/>
              </a:defRPr>
            </a:pPr>
            <a:r>
              <a:t>Prepared for Anna Kuisma, Head of Finance  ·  14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532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6B0"/>
                </a:solidFill>
                <a:latin typeface="Calibri"/>
              </a:defRPr>
            </a:pPr>
            <a:r>
              <a:t>Classification: Department  ·  Generated by Halvorsen Intelligence Portal from source records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Key figures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As of 14 October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FY2025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402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EUR 412.6m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Quarterly financial KPIs FY2025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55448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999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AVG EBITDA 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22402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14.6%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Quarterly financial KPIs FY2025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55448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FY2025 ORDER INTAKE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402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EUR 448.5m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Quarterly financial KPIs FY2025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8620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160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WEIGHTED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5720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EUR 219.0m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5349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Sales pipeline 2026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388620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1999" y="4160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CUSTOMER ACCOUNTS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1999" y="45720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320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1999" y="5349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Customer accounts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9" y="388620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4160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SALARIED STAFF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5720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650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349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Salaried staff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Financial KPIs, pipeline, customer, HR, procurement, inventory and safety datasets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IT assets by type and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IT assets · 700 records · Largest: Laptop at 213.0 (30% of total)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IT_Asset_Inventory.csv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Laptop and device refreshes due by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IT assets · 700 records · 2029: 15.0 (-90% vs 2025)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IT_Asset_Inventory.csv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Sources and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Every figure is computed directly from the records below - no figure is written by 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2233"/>
                </a:solidFill>
                <a:latin typeface="Calibri"/>
              </a:defRPr>
            </a:pPr>
            <a:r>
              <a:t>•  IT assets  -  IT_Asset_Inventory.csv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D6FE0"/>
                </a:solidFill>
                <a:latin typeface="Calibri"/>
              </a:defRPr>
            </a:pPr>
            <a:r>
              <a:t>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Halvorsen Intelligence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