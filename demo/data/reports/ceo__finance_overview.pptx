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 fy2026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Sheet1!$A$2:$A$12</c:f>
              <c:strCache>
                <c:ptCount val="11"/>
                <c:pt idx="0">
                  <c:v>Human Resources</c:v>
                </c:pt>
                <c:pt idx="1">
                  <c:v>Operations</c:v>
                </c:pt>
                <c:pt idx="2">
                  <c:v>Procurement</c:v>
                </c:pt>
                <c:pt idx="3">
                  <c:v>Engineering</c:v>
                </c:pt>
                <c:pt idx="4">
                  <c:v>Quality</c:v>
                </c:pt>
                <c:pt idx="5">
                  <c:v>IT</c:v>
                </c:pt>
                <c:pt idx="6">
                  <c:v>Finance</c:v>
                </c:pt>
                <c:pt idx="7">
                  <c:v>Sales</c:v>
                </c:pt>
                <c:pt idx="8">
                  <c:v>Executive Office</c:v>
                </c:pt>
                <c:pt idx="9">
                  <c:v>Legal &amp; Compliance</c:v>
                </c:pt>
                <c:pt idx="10">
                  <c:v>Marketing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8.64</c:v>
                </c:pt>
                <c:pt idx="1">
                  <c:v>9.85</c:v>
                </c:pt>
                <c:pt idx="2">
                  <c:v>10.01</c:v>
                </c:pt>
                <c:pt idx="3">
                  <c:v>11.96</c:v>
                </c:pt>
                <c:pt idx="4">
                  <c:v>12.2</c:v>
                </c:pt>
                <c:pt idx="5">
                  <c:v>13.1</c:v>
                </c:pt>
                <c:pt idx="6">
                  <c:v>15.43</c:v>
                </c:pt>
                <c:pt idx="7">
                  <c:v>18.94</c:v>
                </c:pt>
                <c:pt idx="8">
                  <c:v>19.53</c:v>
                </c:pt>
                <c:pt idx="9">
                  <c:v>21.52</c:v>
                </c:pt>
                <c:pt idx="10">
                  <c:v>21.75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fy2025</c:v>
                </c:pt>
              </c:strCache>
            </c:strRef>
          </c:tx>
          <c:spPr>
            <a:solidFill>
              <a:srgbClr val="3D6FE0"/>
            </a:solidFill>
          </c:spPr>
          <c:cat>
            <c:strRef>
              <c:f>Sheet1!$A$2:$A$12</c:f>
              <c:strCache>
                <c:ptCount val="11"/>
                <c:pt idx="0">
                  <c:v>Human Resources</c:v>
                </c:pt>
                <c:pt idx="1">
                  <c:v>Operations</c:v>
                </c:pt>
                <c:pt idx="2">
                  <c:v>Procurement</c:v>
                </c:pt>
                <c:pt idx="3">
                  <c:v>Engineering</c:v>
                </c:pt>
                <c:pt idx="4">
                  <c:v>Quality</c:v>
                </c:pt>
                <c:pt idx="5">
                  <c:v>IT</c:v>
                </c:pt>
                <c:pt idx="6">
                  <c:v>Finance</c:v>
                </c:pt>
                <c:pt idx="7">
                  <c:v>Sales</c:v>
                </c:pt>
                <c:pt idx="8">
                  <c:v>Executive Office</c:v>
                </c:pt>
                <c:pt idx="9">
                  <c:v>Legal &amp; Compliance</c:v>
                </c:pt>
                <c:pt idx="10">
                  <c:v>Marketing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8.75</c:v>
                </c:pt>
                <c:pt idx="1">
                  <c:v>9.85</c:v>
                </c:pt>
                <c:pt idx="2">
                  <c:v>9.73</c:v>
                </c:pt>
                <c:pt idx="3">
                  <c:v>11.98</c:v>
                </c:pt>
                <c:pt idx="4">
                  <c:v>11.84</c:v>
                </c:pt>
                <c:pt idx="5">
                  <c:v>12.32</c:v>
                </c:pt>
                <c:pt idx="6">
                  <c:v>14.89</c:v>
                </c:pt>
                <c:pt idx="7">
                  <c:v>18.51</c:v>
                </c:pt>
                <c:pt idx="8">
                  <c:v>19.84</c:v>
                </c:pt>
                <c:pt idx="9">
                  <c:v>21.94</c:v>
                </c:pt>
                <c:pt idx="10">
                  <c:v>22.2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5.0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income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Sheet1!$A$2:$A$5</c:f>
              <c:strCache>
                <c:ptCount val="4"/>
                <c:pt idx="0">
                  <c:v>Q1 FY2025</c:v>
                </c:pt>
                <c:pt idx="1">
                  <c:v>Q2 FY2025</c:v>
                </c:pt>
                <c:pt idx="2">
                  <c:v>Q3 FY2025</c:v>
                </c:pt>
                <c:pt idx="3">
                  <c:v>Q4 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7.9</c:v>
                </c:pt>
                <c:pt idx="1">
                  <c:v>9.1</c:v>
                </c:pt>
                <c:pt idx="2">
                  <c:v>9.3</c:v>
                </c:pt>
                <c:pt idx="3">
                  <c:v>8.9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5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.1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dPt>
            <c:idx val="0"/>
            <c:spPr>
              <a:solidFill>
                <a:srgbClr val="1FB5A3"/>
              </a:solidFill>
            </c:spPr>
          </c:dPt>
          <c:dPt>
            <c:idx val="1"/>
            <c:spPr>
              <a:solidFill>
                <a:srgbClr val="3D6FE0"/>
              </a:solidFill>
            </c:spPr>
          </c:dPt>
          <c:dPt>
            <c:idx val="2"/>
            <c:spPr>
              <a:solidFill>
                <a:srgbClr val="F2A93B"/>
              </a:solidFill>
            </c:spPr>
          </c:dPt>
          <c:cat>
            <c:strRef>
              <c:f>Sheet1!$A$2:$A$4</c:f>
              <c:strCache>
                <c:ptCount val="3"/>
                <c:pt idx="0">
                  <c:v>Paid</c:v>
                </c:pt>
                <c:pt idx="1">
                  <c:v>Approved</c:v>
                </c:pt>
                <c:pt idx="2">
                  <c:v>On hold - price variance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37.48</c:v>
                </c:pt>
                <c:pt idx="1">
                  <c:v>23.6</c:v>
                </c:pt>
                <c:pt idx="2">
                  <c:v>13.59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Sheet1!$A$2:$A$8</c:f>
              <c:strCache>
                <c:ptCount val="7"/>
                <c:pt idx="0">
                  <c:v>Flight</c:v>
                </c:pt>
                <c:pt idx="1">
                  <c:v>Conference fee</c:v>
                </c:pt>
                <c:pt idx="2">
                  <c:v>Meals</c:v>
                </c:pt>
                <c:pt idx="3">
                  <c:v>Hotel</c:v>
                </c:pt>
                <c:pt idx="4">
                  <c:v>Mileage</c:v>
                </c:pt>
                <c:pt idx="5">
                  <c:v>Taxi</c:v>
                </c:pt>
                <c:pt idx="6">
                  <c:v>Client entertainment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157040.2</c:v>
                </c:pt>
                <c:pt idx="1">
                  <c:v>114627.55</c:v>
                </c:pt>
                <c:pt idx="2">
                  <c:v>36075.62</c:v>
                </c:pt>
                <c:pt idx="3">
                  <c:v>35536.12</c:v>
                </c:pt>
                <c:pt idx="4">
                  <c:v>33273.04</c:v>
                </c:pt>
                <c:pt idx="5">
                  <c:v>32837.76</c:v>
                </c:pt>
                <c:pt idx="6">
                  <c:v>27614.26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0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40000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ln w="28575">
              <a:solidFill>
                <a:srgbClr val="1FB5A3"/>
              </a:solidFill>
            </a:ln>
          </c:spPr>
          <c:marker>
            <c:symbol val="circle"/>
            <c:size val="5"/>
            <c:spPr>
              <a:solidFill>
                <a:srgbClr val="1FB5A3"/>
              </a:solidFill>
              <a:ln>
                <a:solidFill>
                  <a:srgbClr val="1FB5A3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  <c:pt idx="8">
                  <c:v>2026-09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68281.82</c:v>
                </c:pt>
                <c:pt idx="1">
                  <c:v>53218.72</c:v>
                </c:pt>
                <c:pt idx="2">
                  <c:v>58755.65</c:v>
                </c:pt>
                <c:pt idx="3">
                  <c:v>55102.56</c:v>
                </c:pt>
                <c:pt idx="4">
                  <c:v>49170.94</c:v>
                </c:pt>
                <c:pt idx="5">
                  <c:v>35964.71</c:v>
                </c:pt>
                <c:pt idx="6">
                  <c:v>48862.59</c:v>
                </c:pt>
                <c:pt idx="7">
                  <c:v>40514.34</c:v>
                </c:pt>
                <c:pt idx="8">
                  <c:v>27133.22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00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16000.0"/>
      </c:valAx>
    </c:plotArea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109728" cy="2011680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B5A3"/>
                </a:solidFill>
                <a:latin typeface="Calibri"/>
              </a:defRPr>
            </a:pPr>
            <a:r>
              <a:t>HALVORSEN INDUSTRIAL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Finance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3DA"/>
                </a:solidFill>
                <a:latin typeface="Calibri"/>
              </a:defRPr>
            </a:pPr>
            <a:r>
              <a:t>Quarterly results, budget versus actuals, payables and expense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3DA"/>
                </a:solidFill>
                <a:latin typeface="Calibri"/>
              </a:defRPr>
            </a:pPr>
            <a:r>
              <a:t>Prepared for Maria Peltoniemi, Chief Executive Officer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B0"/>
                </a:solidFill>
                <a:latin typeface="Calibri"/>
              </a:defRPr>
            </a:pPr>
            <a:r>
              <a:t>Classification: Management  ·  Generated by Halvorsen Intelligence Portal from source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Key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As of 14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412.6m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AVG 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14.6%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ORDER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448.5m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WEIGHTED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219.0m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320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650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 KPIs, pipeline, customer, HR, procurement, inventory and safety datasets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FY2026 budget by department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Budget FY2026 by department · 88 records · Largest: Marketing at 21.8 (13%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Budget_FY2026_by_Department.csv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Net income by quarter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Quarterly financial KPIs FY2025 · 4 records · Largest: Q3 FY2025 at 9.3 (26%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Financial_KPIs_FY2025.csv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Payables by status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Accounts payable 2026 · 420 records · Largest: Paid at 37.5 (50%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Accounts_Payable_Ledger_2026.csv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Expense claims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Expense claims 2026 · 800 records · Largest: Flight at 157,040.2 (36%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Expense_Claims_2026.csv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Expense claims per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Expense claims 2026 · 800 records · 2026-09: 27,133.2 (-60% vs 2026-01)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Expense_Claims_2026.csv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Sources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Every figure is computed directly from the records below - no figure is written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Accounts payable 2026  -  Accounts_Payable_Ledger_2026.csv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Budget FY2026 by department  -  Budget_FY2026_by_Department.csv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8A1B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Expense claims 2026  -  Expense_Claims_2026.csv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2311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1518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Quarterly financial KPIs FY2025  -  Financial_KPIs_FY2025.csv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6151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8A1B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Halvorsen Intelligence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