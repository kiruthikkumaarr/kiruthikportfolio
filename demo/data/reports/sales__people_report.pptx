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Sheet1!$A$2:$A$12</c:f>
              <c:strCache>
                <c:ptCount val="11"/>
                <c:pt idx="0">
                  <c:v>Executive Office</c:v>
                </c:pt>
                <c:pt idx="1">
                  <c:v>Legal &amp; Compliance</c:v>
                </c:pt>
                <c:pt idx="2">
                  <c:v>Procurement</c:v>
                </c:pt>
                <c:pt idx="3">
                  <c:v>Human Resources</c:v>
                </c:pt>
                <c:pt idx="4">
                  <c:v>Marketing</c:v>
                </c:pt>
                <c:pt idx="5">
                  <c:v>IT</c:v>
                </c:pt>
                <c:pt idx="6">
                  <c:v>Finance</c:v>
                </c:pt>
                <c:pt idx="7">
                  <c:v>Quality</c:v>
                </c:pt>
                <c:pt idx="8">
                  <c:v>Sales</c:v>
                </c:pt>
                <c:pt idx="9">
                  <c:v>Engineering</c:v>
                </c:pt>
                <c:pt idx="10">
                  <c:v>Operations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10.0</c:v>
                </c:pt>
                <c:pt idx="1">
                  <c:v>24.0</c:v>
                </c:pt>
                <c:pt idx="2">
                  <c:v>36.0</c:v>
                </c:pt>
                <c:pt idx="3">
                  <c:v>37.0</c:v>
                </c:pt>
                <c:pt idx="4">
                  <c:v>38.0</c:v>
                </c:pt>
                <c:pt idx="5">
                  <c:v>39.0</c:v>
                </c:pt>
                <c:pt idx="6">
                  <c:v>42.0</c:v>
                </c:pt>
                <c:pt idx="7">
                  <c:v>49.0</c:v>
                </c:pt>
                <c:pt idx="8">
                  <c:v>60.0</c:v>
                </c:pt>
                <c:pt idx="9">
                  <c:v>111.0</c:v>
                </c:pt>
                <c:pt idx="10">
                  <c:v>204.0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  <c:min val="0.0"/>
        </c:scaling>
        <c:delete val="0"/>
        <c:axPos val="b"/>
        <c:majorGridlines>
          <c:spPr>
            <a:ln>
              <a:solidFill>
                <a:srgbClr val="E3E7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50.0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spPr>
              <a:solidFill>
                <a:srgbClr val="1FB5A3"/>
              </a:solidFill>
            </c:spPr>
          </c:dPt>
          <c:dPt>
            <c:idx val="1"/>
            <c:spPr>
              <a:solidFill>
                <a:srgbClr val="3D6FE0"/>
              </a:solidFill>
            </c:spPr>
          </c:dPt>
          <c:dPt>
            <c:idx val="2"/>
            <c:spPr>
              <a:solidFill>
                <a:srgbClr val="F2A93B"/>
              </a:solidFill>
            </c:spPr>
          </c:dPt>
          <c:dPt>
            <c:idx val="3"/>
            <c:spPr>
              <a:solidFill>
                <a:srgbClr val="E0566A"/>
              </a:solidFill>
            </c:spPr>
          </c:dPt>
          <c:dPt>
            <c:idx val="4"/>
            <c:spPr>
              <a:solidFill>
                <a:srgbClr val="8E6CE0"/>
              </a:solidFill>
            </c:spPr>
          </c:dPt>
          <c:dPt>
            <c:idx val="5"/>
            <c:spPr>
              <a:solidFill>
                <a:srgbClr val="5BBF7A"/>
              </a:solidFill>
            </c:spPr>
          </c:dPt>
          <c:dPt>
            <c:idx val="6"/>
            <c:spPr>
              <a:solidFill>
                <a:srgbClr val="4FB3D9"/>
              </a:solidFill>
            </c:spPr>
          </c:dPt>
          <c:dPt>
            <c:idx val="7"/>
            <c:spPr>
              <a:solidFill>
                <a:srgbClr val="D98E4F"/>
              </a:solidFill>
            </c:spPr>
          </c:dPt>
          <c:cat>
            <c:strRef>
              <c:f>Sheet1!$A$2:$A$9</c:f>
              <c:strCache>
                <c:ptCount val="8"/>
                <c:pt idx="0">
                  <c:v>Tampere Works</c:v>
                </c:pt>
                <c:pt idx="1">
                  <c:v>Porto Foundry</c:v>
                </c:pt>
                <c:pt idx="2">
                  <c:v>Gdansk Assembly</c:v>
                </c:pt>
                <c:pt idx="3">
                  <c:v>Lyon Systems</c:v>
                </c:pt>
                <c:pt idx="4">
                  <c:v>Brno Machining</c:v>
                </c:pt>
                <c:pt idx="5">
                  <c:v>Aarhus Service Centre</c:v>
                </c:pt>
                <c:pt idx="6">
                  <c:v>Graz Electronics</c:v>
                </c:pt>
                <c:pt idx="7">
                  <c:v>Bilbao Plant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220.0</c:v>
                </c:pt>
                <c:pt idx="1">
                  <c:v>79.0</c:v>
                </c:pt>
                <c:pt idx="2">
                  <c:v>75.0</c:v>
                </c:pt>
                <c:pt idx="3">
                  <c:v>59.0</c:v>
                </c:pt>
                <c:pt idx="4">
                  <c:v>57.0</c:v>
                </c:pt>
                <c:pt idx="5">
                  <c:v>55.0</c:v>
                </c:pt>
                <c:pt idx="6">
                  <c:v>53.0</c:v>
                </c:pt>
                <c:pt idx="7">
                  <c:v>52.0</c:v>
                </c:pt>
              </c:numCache>
            </c:numRef>
          </c:val>
        </c:ser>
        <c:dLbls>
          <c:numFmt formatCode="0%" sourceLinked="0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ln w="28575">
              <a:solidFill>
                <a:srgbClr val="1FB5A3"/>
              </a:solidFill>
            </a:ln>
          </c:spPr>
          <c:marker>
            <c:symbol val="circle"/>
            <c:size val="5"/>
            <c:spPr>
              <a:solidFill>
                <a:srgbClr val="1FB5A3"/>
              </a:solidFill>
              <a:ln>
                <a:solidFill>
                  <a:srgbClr val="1FB5A3"/>
                </a:solidFill>
              </a:ln>
            </c:spPr>
          </c:marker>
          <c:cat>
            <c:strRef>
              <c:f>Sheet1!$A$2:$A$23</c:f>
              <c:strCache>
                <c:ptCount val="22"/>
                <c:pt idx="0">
                  <c:v>2004</c:v>
                </c:pt>
                <c:pt idx="1">
                  <c:v>2005</c:v>
                </c:pt>
                <c:pt idx="2">
                  <c:v>2006</c:v>
                </c:pt>
                <c:pt idx="3">
                  <c:v>2007</c:v>
                </c:pt>
                <c:pt idx="4">
                  <c:v>2008</c:v>
                </c:pt>
                <c:pt idx="5">
                  <c:v>2009</c:v>
                </c:pt>
                <c:pt idx="6">
                  <c:v>2010</c:v>
                </c:pt>
                <c:pt idx="7">
                  <c:v>2011</c:v>
                </c:pt>
                <c:pt idx="8">
                  <c:v>2012</c:v>
                </c:pt>
                <c:pt idx="9">
                  <c:v>2013</c:v>
                </c:pt>
                <c:pt idx="10">
                  <c:v>2014</c:v>
                </c:pt>
                <c:pt idx="11">
                  <c:v>2015</c:v>
                </c:pt>
                <c:pt idx="12">
                  <c:v>2016</c:v>
                </c:pt>
                <c:pt idx="13">
                  <c:v>2017</c:v>
                </c:pt>
                <c:pt idx="14">
                  <c:v>2018</c:v>
                </c:pt>
                <c:pt idx="15">
                  <c:v>2019</c:v>
                </c:pt>
                <c:pt idx="16">
                  <c:v>2020</c:v>
                </c:pt>
                <c:pt idx="17">
                  <c:v>2021</c:v>
                </c:pt>
                <c:pt idx="18">
                  <c:v>2022</c:v>
                </c:pt>
                <c:pt idx="19">
                  <c:v>2023</c:v>
                </c:pt>
                <c:pt idx="20">
                  <c:v>2024</c:v>
                </c:pt>
                <c:pt idx="21">
                  <c:v>2025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32.0</c:v>
                </c:pt>
                <c:pt idx="1">
                  <c:v>22.0</c:v>
                </c:pt>
                <c:pt idx="2">
                  <c:v>44.0</c:v>
                </c:pt>
                <c:pt idx="3">
                  <c:v>32.0</c:v>
                </c:pt>
                <c:pt idx="4">
                  <c:v>32.0</c:v>
                </c:pt>
                <c:pt idx="5">
                  <c:v>26.0</c:v>
                </c:pt>
                <c:pt idx="6">
                  <c:v>29.0</c:v>
                </c:pt>
                <c:pt idx="7">
                  <c:v>28.0</c:v>
                </c:pt>
                <c:pt idx="8">
                  <c:v>28.0</c:v>
                </c:pt>
                <c:pt idx="9">
                  <c:v>31.0</c:v>
                </c:pt>
                <c:pt idx="10">
                  <c:v>28.0</c:v>
                </c:pt>
                <c:pt idx="11">
                  <c:v>30.0</c:v>
                </c:pt>
                <c:pt idx="12">
                  <c:v>32.0</c:v>
                </c:pt>
                <c:pt idx="13">
                  <c:v>34.0</c:v>
                </c:pt>
                <c:pt idx="14">
                  <c:v>32.0</c:v>
                </c:pt>
                <c:pt idx="15">
                  <c:v>27.0</c:v>
                </c:pt>
                <c:pt idx="16">
                  <c:v>25.0</c:v>
                </c:pt>
                <c:pt idx="17">
                  <c:v>26.0</c:v>
                </c:pt>
                <c:pt idx="18">
                  <c:v>19.0</c:v>
                </c:pt>
                <c:pt idx="19">
                  <c:v>31.0</c:v>
                </c:pt>
                <c:pt idx="20">
                  <c:v>34.0</c:v>
                </c:pt>
                <c:pt idx="21">
                  <c:v>28.0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0.0"/>
          <c:min val="0.0"/>
        </c:scaling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numFmt formatCode="#,##0.#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majorUnit val="10.0"/>
      </c:valAx>
    </c:plotArea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Sheet1!$A$2:$A$11</c:f>
              <c:strCache>
                <c:ptCount val="10"/>
                <c:pt idx="0">
                  <c:v>Procurement</c:v>
                </c:pt>
                <c:pt idx="1">
                  <c:v>Quality</c:v>
                </c:pt>
                <c:pt idx="2">
                  <c:v>Finance</c:v>
                </c:pt>
                <c:pt idx="3">
                  <c:v>Marketing</c:v>
                </c:pt>
                <c:pt idx="4">
                  <c:v>Operations</c:v>
                </c:pt>
                <c:pt idx="5">
                  <c:v>Human Resources</c:v>
                </c:pt>
                <c:pt idx="6">
                  <c:v>Legal &amp; Compliance</c:v>
                </c:pt>
                <c:pt idx="7">
                  <c:v>IT</c:v>
                </c:pt>
                <c:pt idx="8">
                  <c:v>Sales</c:v>
                </c:pt>
                <c:pt idx="9">
                  <c:v>Engineering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7.0</c:v>
                </c:pt>
                <c:pt idx="1">
                  <c:v>7.0</c:v>
                </c:pt>
                <c:pt idx="2">
                  <c:v>6.0</c:v>
                </c:pt>
                <c:pt idx="3">
                  <c:v>5.0</c:v>
                </c:pt>
                <c:pt idx="4">
                  <c:v>5.0</c:v>
                </c:pt>
                <c:pt idx="5">
                  <c:v>4.0</c:v>
                </c:pt>
                <c:pt idx="6">
                  <c:v>4.0</c:v>
                </c:pt>
                <c:pt idx="7">
                  <c:v>3.0</c:v>
                </c:pt>
                <c:pt idx="8">
                  <c:v>3.0</c:v>
                </c:pt>
                <c:pt idx="9">
                  <c:v>2.0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  <c:min val="0.0"/>
        </c:scaling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numFmt formatCode="#,##0.#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1.6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103120"/>
            <a:ext cx="109728" cy="2011680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B5A3"/>
                </a:solidFill>
                <a:latin typeface="Calibri"/>
              </a:defRPr>
            </a:pPr>
            <a:r>
              <a:t>HALVORSEN INDUSTRIAL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People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8C3DA"/>
                </a:solidFill>
                <a:latin typeface="Calibri"/>
              </a:defRPr>
            </a:pPr>
            <a:r>
              <a:t>Headcount by department and site, hiring trend, open positions and ratings.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C3DA"/>
                </a:solidFill>
                <a:latin typeface="Calibri"/>
              </a:defRPr>
            </a:pPr>
            <a:r>
              <a:t>Prepared for Karolína Matoušková, Key Account Manager  ·  14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6B0"/>
                </a:solidFill>
                <a:latin typeface="Calibri"/>
              </a:defRPr>
            </a:pPr>
            <a:r>
              <a:t>Classification: All staff  ·  Generated by Halvorsen Intelligence Portal from source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Key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As of 14 October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ALL STAFF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WEIGHTED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EUR 219.0m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Sales pipeline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CUSTOMER ACCOUNTS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320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Customer accounts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SALARIED STAFF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650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Salaried staff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OPEN POSITIONS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572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349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Open positions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Financial KPIs, pipeline, customer, HR, procurement, inventory and safety datasets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Headcount by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Salaried staff · 650 records · Largest: Operations at 204.0 (31%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ALL STAFF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Staff_Directory.csv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Headcount by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Salaried staff · 650 records · Largest: Tampere Works at 220.0 (34%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ALL STAFF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Staff_Directory.csv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Hires by start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Salaried staff · 650 records · 2025: 28.0 (-12% vs 2004)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ALL STAFF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Staff_Directory.csv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Open positions by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Open positions · 46 records · Largest: Procurement at 7.0 (15%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ALL STAFF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Open_Positions.csv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Sources and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Every figure is computed directly from the records below - no figure is written by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ALL STAFF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Open positions  -  Open_Positions.csv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9E6A"/>
                </a:solidFill>
                <a:latin typeface="Calibri"/>
              </a:defRPr>
            </a:pPr>
            <a:r>
              <a:t>All staff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Salaried staff  -  Staff_Directory.csv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8470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9E6A"/>
                </a:solidFill>
                <a:latin typeface="Calibri"/>
              </a:defRPr>
            </a:pPr>
            <a:r>
              <a:t>All staff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Halvorsen Intelligence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