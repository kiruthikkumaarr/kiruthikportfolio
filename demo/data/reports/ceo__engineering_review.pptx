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spPr>
              <a:solidFill>
                <a:srgbClr val="1FB5A3"/>
              </a:solidFill>
            </c:spPr>
          </c:dPt>
          <c:dPt>
            <c:idx val="1"/>
            <c:spPr>
              <a:solidFill>
                <a:srgbClr val="3D6FE0"/>
              </a:solidFill>
            </c:spPr>
          </c:dPt>
          <c:dPt>
            <c:idx val="2"/>
            <c:spPr>
              <a:solidFill>
                <a:srgbClr val="F2A93B"/>
              </a:solidFill>
            </c:spPr>
          </c:dPt>
          <c:dPt>
            <c:idx val="3"/>
            <c:spPr>
              <a:solidFill>
                <a:srgbClr val="E0566A"/>
              </a:solidFill>
            </c:spPr>
          </c:dPt>
          <c:dPt>
            <c:idx val="4"/>
            <c:spPr>
              <a:solidFill>
                <a:srgbClr val="8E6CE0"/>
              </a:solidFill>
            </c:spPr>
          </c:dPt>
          <c:cat>
            <c:strRef>
              <c:f>Sheet1!$A$2:$A$6</c:f>
              <c:strCache>
                <c:ptCount val="5"/>
                <c:pt idx="0">
                  <c:v>Approved</c:v>
                </c:pt>
                <c:pt idx="1">
                  <c:v>Rejected</c:v>
                </c:pt>
                <c:pt idx="2">
                  <c:v>In review</c:v>
                </c:pt>
                <c:pt idx="3">
                  <c:v>Implemented</c:v>
                </c:pt>
                <c:pt idx="4">
                  <c:v>Draft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43.0</c:v>
                </c:pt>
                <c:pt idx="1">
                  <c:v>39.0</c:v>
                </c:pt>
                <c:pt idx="2">
                  <c:v>32.0</c:v>
                </c:pt>
                <c:pt idx="3">
                  <c:v>26.0</c:v>
                </c:pt>
                <c:pt idx="4">
                  <c:v>20.0</c:v>
                </c:pt>
              </c:numCache>
            </c:numRef>
          </c:val>
        </c:ser>
        <c:dLbls>
          <c:numFmt formatCode="0%" sourceLinked="0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Sheet1!$A$2:$A$13</c:f>
              <c:strCache>
                <c:ptCount val="12"/>
                <c:pt idx="0">
                  <c:v>HX-450</c:v>
                </c:pt>
                <c:pt idx="1">
                  <c:v>HX-110</c:v>
                </c:pt>
                <c:pt idx="2">
                  <c:v>HX-520</c:v>
                </c:pt>
                <c:pt idx="3">
                  <c:v>HX-250</c:v>
                </c:pt>
                <c:pt idx="4">
                  <c:v>HX-200</c:v>
                </c:pt>
                <c:pt idx="5">
                  <c:v>HX-600</c:v>
                </c:pt>
                <c:pt idx="6">
                  <c:v>HX-400</c:v>
                </c:pt>
                <c:pt idx="7">
                  <c:v>HX-360</c:v>
                </c:pt>
                <c:pt idx="8">
                  <c:v>CU-4 Controller</c:v>
                </c:pt>
                <c:pt idx="9">
                  <c:v>HX-160</c:v>
                </c:pt>
                <c:pt idx="10">
                  <c:v>HX-280</c:v>
                </c:pt>
                <c:pt idx="11">
                  <c:v>CU-4 Pro Controller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10.0</c:v>
                </c:pt>
                <c:pt idx="2">
                  <c:v>11.0</c:v>
                </c:pt>
                <c:pt idx="3">
                  <c:v>11.0</c:v>
                </c:pt>
                <c:pt idx="4">
                  <c:v>11.0</c:v>
                </c:pt>
                <c:pt idx="5">
                  <c:v>12.0</c:v>
                </c:pt>
                <c:pt idx="6">
                  <c:v>12.0</c:v>
                </c:pt>
                <c:pt idx="7">
                  <c:v>12.0</c:v>
                </c:pt>
                <c:pt idx="8">
                  <c:v>12.0</c:v>
                </c:pt>
                <c:pt idx="9">
                  <c:v>13.0</c:v>
                </c:pt>
                <c:pt idx="10">
                  <c:v>14.0</c:v>
                </c:pt>
                <c:pt idx="11">
                  <c:v>17.0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b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4.0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103120"/>
            <a:ext cx="109728" cy="2011680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B5A3"/>
                </a:solidFill>
                <a:latin typeface="Calibri"/>
              </a:defRPr>
            </a:pPr>
            <a:r>
              <a:t>HALVORSEN INDUSTRIAL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Engineering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8C3DA"/>
                </a:solidFill>
                <a:latin typeface="Calibri"/>
              </a:defRPr>
            </a:pPr>
            <a:r>
              <a:t>Engineering change orders by status, product and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3DA"/>
                </a:solidFill>
                <a:latin typeface="Calibri"/>
              </a:defRPr>
            </a:pPr>
            <a:r>
              <a:t>Prepared for Maria Peltoniemi, Chief Executive Officer  ·  14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6B0"/>
                </a:solidFill>
                <a:latin typeface="Calibri"/>
              </a:defRPr>
            </a:pPr>
            <a:r>
              <a:t>Classification: Department  ·  Generated by Halvorsen Intelligence Portal from source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Key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As of 14 October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FY2025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412.6m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Quarterly financial KPIs FY2025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AVG EBITDA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14.6%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Quarterly financial KPIs FY2025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FY2025 ORDER 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448.5m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Quarterly financial KPIs FY2025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WEIGHTED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219.0m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Sales pipeline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1999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CUSTOMER ACCOUNTS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320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Customer accounts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SALARIED STAFF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650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Salaried staff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Financial KPIs, pipeline, customer, HR, procurement, inventory and safety datasets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Change orders by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Engineering change orders · 160 records · Largest: Approved at 43.0 (27%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Engineering_Change_Orders.csv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Change orders by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Engineering change orders · 160 records · Largest: CU-4 Pro Controller at 17.0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Engineering_Change_Orders.csv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Change orders by product -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Engineering change orders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Count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CU-4 Pro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CU-4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10.0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Engineering_Change_Orders.csv (160 records)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Sources and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Every figure is computed directly from the records below - no figure is written by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Engineering change orders  -  Engineering_Change_Orders.csv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6FE0"/>
                </a:solidFill>
                <a:latin typeface="Calibri"/>
              </a:defRPr>
            </a:pPr>
            <a:r>
              <a:t>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Halvorsen Intelligence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